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4.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58664e4fd0745fb" /><Relationship Type="http://schemas.openxmlformats.org/officeDocument/2006/relationships/extended-properties" Target="/docProps/app.xml" Id="Rc4fd107fbeea4ad5" /><Relationship Type="http://schemas.openxmlformats.org/officeDocument/2006/relationships/officeDocument" Target="/ppt/presentation.xml" Id="R234e235f07a34f3a" /></Relationships>
</file>

<file path=ppt/presentation.xml><?xml version="1.0" encoding="utf-8"?>
<p:presentation xmlns:p="http://schemas.openxmlformats.org/presentationml/2006/main">
  <p:sldMasterIdLst>
    <p:sldMasterId xmlns:r="http://schemas.openxmlformats.org/officeDocument/2006/relationships" id="2147483648" r:id="Rc1058236897541ab"/>
  </p:sldMasterIdLst>
  <p:notesMasterIdLst>
    <p:notesMasterId xmlns:r="http://schemas.openxmlformats.org/officeDocument/2006/relationships" r:id="R50ee774a3e834926"/>
  </p:notesMasterIdLst>
  <p:sldIdLst>
    <p:sldId xmlns:r="http://schemas.openxmlformats.org/officeDocument/2006/relationships" id="256" r:id="R556122b328234eaa"/>
    <p:sldId xmlns:r="http://schemas.openxmlformats.org/officeDocument/2006/relationships" id="257" r:id="R04e3476051a34252"/>
    <p:sldId xmlns:r="http://schemas.openxmlformats.org/officeDocument/2006/relationships" id="258" r:id="R95fe48a414f44724"/>
    <p:sldId xmlns:r="http://schemas.openxmlformats.org/officeDocument/2006/relationships" id="259" r:id="R7fbf78ffaeb3436f"/>
    <p:sldId xmlns:r="http://schemas.openxmlformats.org/officeDocument/2006/relationships" id="260" r:id="Rf6869b29366b4902"/>
    <p:sldId xmlns:r="http://schemas.openxmlformats.org/officeDocument/2006/relationships" id="261" r:id="Rebc9299e6593499c"/>
    <p:sldId xmlns:r="http://schemas.openxmlformats.org/officeDocument/2006/relationships" id="262" r:id="Rc8f59306cc2945a2"/>
    <p:sldId xmlns:r="http://schemas.openxmlformats.org/officeDocument/2006/relationships" id="263" r:id="R8d8e4d8f74bd4ae8"/>
    <p:sldId xmlns:r="http://schemas.openxmlformats.org/officeDocument/2006/relationships" id="264" r:id="R0ed275b012324dd2"/>
    <p:sldId xmlns:r="http://schemas.openxmlformats.org/officeDocument/2006/relationships" id="265" r:id="R43f4222b78a14c2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ed3c30aa77f43e6" /><Relationship Type="http://schemas.openxmlformats.org/officeDocument/2006/relationships/slideMaster" Target="/ppt/slideMasters/slideMaster1.xml" Id="Rc1058236897541ab" /><Relationship Type="http://schemas.openxmlformats.org/officeDocument/2006/relationships/notesMaster" Target="/ppt/notesMasters/notesMaster1.xml" Id="R50ee774a3e834926" /><Relationship Type="http://schemas.openxmlformats.org/officeDocument/2006/relationships/presProps" Target="/ppt/presProps.xml" Id="R3caf34ff79ac46e8" /><Relationship Type="http://schemas.openxmlformats.org/officeDocument/2006/relationships/tableStyles" Target="/ppt/tableStyles.xml" Id="R06226d9f86a14748" /><Relationship Type="http://schemas.openxmlformats.org/officeDocument/2006/relationships/slide" Target="/ppt/slides/slide1.xml" Id="R556122b328234eaa" /><Relationship Type="http://schemas.openxmlformats.org/officeDocument/2006/relationships/slide" Target="/ppt/slides/slide2.xml" Id="R04e3476051a34252" /><Relationship Type="http://schemas.openxmlformats.org/officeDocument/2006/relationships/slide" Target="/ppt/slides/slide3.xml" Id="R95fe48a414f44724" /><Relationship Type="http://schemas.openxmlformats.org/officeDocument/2006/relationships/slide" Target="/ppt/slides/slide4.xml" Id="R7fbf78ffaeb3436f" /><Relationship Type="http://schemas.openxmlformats.org/officeDocument/2006/relationships/slide" Target="/ppt/slides/slide5.xml" Id="Rf6869b29366b4902" /><Relationship Type="http://schemas.openxmlformats.org/officeDocument/2006/relationships/slide" Target="/ppt/slides/slide6.xml" Id="Rebc9299e6593499c" /><Relationship Type="http://schemas.openxmlformats.org/officeDocument/2006/relationships/slide" Target="/ppt/slides/slide7.xml" Id="Rc8f59306cc2945a2" /><Relationship Type="http://schemas.openxmlformats.org/officeDocument/2006/relationships/slide" Target="/ppt/slides/slide8.xml" Id="R8d8e4d8f74bd4ae8" /><Relationship Type="http://schemas.openxmlformats.org/officeDocument/2006/relationships/slide" Target="/ppt/slides/slide9.xml" Id="R0ed275b012324dd2" /><Relationship Type="http://schemas.openxmlformats.org/officeDocument/2006/relationships/slide" Target="/ppt/slides/slide10.xml" Id="R43f4222b78a14c2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4e60027628644f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c497fa7f12d4195" /><Relationship Type="http://schemas.openxmlformats.org/officeDocument/2006/relationships/notesMaster" Target="/ppt/notesMasters/notesMaster1.xml" Id="Rbe30ffefb38f4092" /></Relationships>
</file>

<file path=ppt/notesSlides/_rels/notesSlide2.xml.rels>&#65279;<?xml version="1.0" encoding="utf-8"?><Relationships xmlns="http://schemas.openxmlformats.org/package/2006/relationships"><Relationship Type="http://schemas.openxmlformats.org/officeDocument/2006/relationships/slide" Target="/ppt/slides/slide2.xml" Id="R04f1d4f657134bf7" /><Relationship Type="http://schemas.openxmlformats.org/officeDocument/2006/relationships/notesMaster" Target="/ppt/notesMasters/notesMaster1.xml" Id="R211bf0c96b524082" /></Relationships>
</file>

<file path=ppt/notesSlides/_rels/notesSlide3.xml.rels>&#65279;<?xml version="1.0" encoding="utf-8"?><Relationships xmlns="http://schemas.openxmlformats.org/package/2006/relationships"><Relationship Type="http://schemas.openxmlformats.org/officeDocument/2006/relationships/slide" Target="/ppt/slides/slide3.xml" Id="Rc412eff26dfd45c1" /><Relationship Type="http://schemas.openxmlformats.org/officeDocument/2006/relationships/notesMaster" Target="/ppt/notesMasters/notesMaster1.xml" Id="Rd4b62c05e1a54f7a" /></Relationships>
</file>

<file path=ppt/notesSlides/_rels/notesSlide4.xml.rels>&#65279;<?xml version="1.0" encoding="utf-8"?><Relationships xmlns="http://schemas.openxmlformats.org/package/2006/relationships"><Relationship Type="http://schemas.openxmlformats.org/officeDocument/2006/relationships/slide" Target="/ppt/slides/slide4.xml" Id="R58c92d0963ec4a1f" /><Relationship Type="http://schemas.openxmlformats.org/officeDocument/2006/relationships/notesMaster" Target="/ppt/notesMasters/notesMaster1.xml" Id="Ra46a99f3f04f45a1" /></Relationships>
</file>

<file path=ppt/notesSlides/_rels/notesSlide5.xml.rels>&#65279;<?xml version="1.0" encoding="utf-8"?><Relationships xmlns="http://schemas.openxmlformats.org/package/2006/relationships"><Relationship Type="http://schemas.openxmlformats.org/officeDocument/2006/relationships/slide" Target="/ppt/slides/slide5.xml" Id="R99a2e5f520594a02" /><Relationship Type="http://schemas.openxmlformats.org/officeDocument/2006/relationships/notesMaster" Target="/ppt/notesMasters/notesMaster1.xml" Id="R72e4572be8d24464" /></Relationships>
</file>

<file path=ppt/notesSlides/_rels/notesSlide6.xml.rels>&#65279;<?xml version="1.0" encoding="utf-8"?><Relationships xmlns="http://schemas.openxmlformats.org/package/2006/relationships"><Relationship Type="http://schemas.openxmlformats.org/officeDocument/2006/relationships/slide" Target="/ppt/slides/slide6.xml" Id="Rfaa78b54c9e84b0a" /><Relationship Type="http://schemas.openxmlformats.org/officeDocument/2006/relationships/notesMaster" Target="/ppt/notesMasters/notesMaster1.xml" Id="R5541b533983b4ac2" /></Relationships>
</file>

<file path=ppt/notesSlides/_rels/notesSlide7.xml.rels>&#65279;<?xml version="1.0" encoding="utf-8"?><Relationships xmlns="http://schemas.openxmlformats.org/package/2006/relationships"><Relationship Type="http://schemas.openxmlformats.org/officeDocument/2006/relationships/slide" Target="/ppt/slides/slide7.xml" Id="R99aee05e8ffd4082" /><Relationship Type="http://schemas.openxmlformats.org/officeDocument/2006/relationships/notesMaster" Target="/ppt/notesMasters/notesMaster1.xml" Id="R6fab01bf5ca545bd" /></Relationships>
</file>

<file path=ppt/notesSlides/_rels/notesSlide8.xml.rels>&#65279;<?xml version="1.0" encoding="utf-8"?><Relationships xmlns="http://schemas.openxmlformats.org/package/2006/relationships"><Relationship Type="http://schemas.openxmlformats.org/officeDocument/2006/relationships/slide" Target="/ppt/slides/slide8.xml" Id="R4d5f99b2da8e4a81" /><Relationship Type="http://schemas.openxmlformats.org/officeDocument/2006/relationships/notesMaster" Target="/ppt/notesMasters/notesMaster1.xml" Id="R59681a13122c42ce" /></Relationships>
</file>

<file path=ppt/notesSlides/_rels/notesSlide9.xml.rels>&#65279;<?xml version="1.0" encoding="utf-8"?><Relationships xmlns="http://schemas.openxmlformats.org/package/2006/relationships"><Relationship Type="http://schemas.openxmlformats.org/officeDocument/2006/relationships/slide" Target="/ppt/slides/slide9.xml" Id="R7b6f385d800144d1" /><Relationship Type="http://schemas.openxmlformats.org/officeDocument/2006/relationships/notesMaster" Target="/ppt/notesMasters/notesMaster1.xml" Id="Rb03f029e455b41a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e3d490b82df446f" /><Relationship Type="http://schemas.openxmlformats.org/officeDocument/2006/relationships/notesMaster" Target="/ppt/notesMasters/notesMaster1.xml" Id="R7aa626a3d29e4d8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Olist dataset, https://drive.google.com/drive/folders/1qmq0FkVqotNkjWcqJP1Wg_rntzlSvfs5 . Calculations: companion Olist_Assessment.ipynb and output/tables. Delivered merchandise GMV excludes freight. Historical 2016-2018 data.</a:t>
            </a:r>
          </a:p>
          <a:p xmlns:a="http://schemas.openxmlformats.org/drawingml/2006/main">
            <a:r>
              <a:t>Business question: how can Olist grow while improving satisfaction and reducing delivery failures? The three budget priorities are a controlled risk-alert pilot, seller/route diagnostics, and a second-purchase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Olist dataset, https://drive.google.com/drive/folders/1qmq0FkVqotNkjWcqJP1Wg_rntzlSvfs5 . Calculations: companion Olist_Assessment.ipynb and output/tables. Delivered merchandise GMV excludes freight. Historical 2016-2018 data.</a:t>
            </a:r>
          </a:p>
          <a:p xmlns:a="http://schemas.openxmlformats.org/drawingml/2006/main">
            <a:r>
              <a:t>Nine CSVs: orders, items, payments, reviews, customers, sellers, products, category translation and geolocation. 99,441 orders. Integrity assertions check keys, foreign keys, monetary reconciliation and temporal splits. Eight delivered orders lack actual delivery timestamps. 547 orders have multiple review rows. 261,831 exact geolocation duplicates are removed. 303 orders differ by more than one cent between recorded payments and item-plus-freight totals. No fabricated balancing adjustments.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Olist dataset, https://drive.google.com/drive/folders/1qmq0FkVqotNkjWcqJP1Wg_rntzlSvfs5 . Calculations: companion Olist_Assessment.ipynb and output/tables. Delivered merchandise GMV excludes freight. Historical 2016-2018 data.</a:t>
            </a:r>
          </a:p>
          <a:p xmlns:a="http://schemas.openxmlformats.org/drawingml/2006/main">
            <a:r>
              <a:t>Jan-Jul 2018 versus Jan-Jul 2017: GMV 6379548.48 versus 2438756.43 BRL. Orders 46432 versus 17805. Monthly GMV is attributed to purchase month. August 2018 is an incomplete observation window. Delivered-only recognition near the boundary can also censor recent orders.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Olist dataset, https://drive.google.com/drive/folders/1qmq0FkVqotNkjWcqJP1Wg_rntzlSvfs5 . Calculations: companion Olist_Assessment.ipynb and output/tables. Delivered merchandise GMV excludes freight. Historical 2016-2018 data.</a:t>
            </a:r>
          </a:p>
          <a:p xmlns:a="http://schemas.openxmlformats.org/drawingml/2006/main">
            <a:r>
              <a:t>Category revenue sums actual item prices on delivered orders. The top five categories account for 39.8% of GMV. SP, RJ and MG account for 63.4%. State uses customer location. Full seller ranking: top ten sellers account for 13.3% of delivered GMV.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Olist dataset, https://drive.google.com/drive/folders/1qmq0FkVqotNkjWcqJP1Wg_rntzlSvfs5 . Calculations: companion Olist_Assessment.ipynb and output/tables. Delivered merchandise GMV excludes freight. Historical 2016-2018 data.</a:t>
            </a:r>
          </a:p>
          <a:p xmlns:a="http://schemas.openxmlformats.org/drawingml/2006/main">
            <a:r>
              <a:t>Unique delivered customers: 93358. All-status unique customers: 96096. Repeat within the delivered extract: 2801 customers, 3.00%. Among 75320 customers with at least 90 days observation, 2.28% made another purchase within 90 days. RFM snapshot 2018-08-30, recent within 90 days, high value at or above customer GMV 75th percentile BRL 154.7375. Credit cards are 78.5% of payment value and 66.8% of credit-card rows use more than one installment.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Olist dataset, https://drive.google.com/drive/folders/1qmq0FkVqotNkjWcqJP1Wg_rntzlSvfs5 . Calculations: companion Olist_Assessment.ipynb and output/tables. Delivered merchandise GMV excludes freight. Historical 2016-2018 data.</a:t>
            </a:r>
          </a:p>
          <a:p xmlns:a="http://schemas.openxmlformats.org/drawingml/2006/main">
            <a:r>
              <a:t>Review sample: 88163 on-time orders, 7661 late orders. Poor scores 1-2: 9.2% on time, 54.1% late. Timestamp late rate 8.11%; calendar-day alternative 6.77%. State late rates: RJ 13.47%, SP 5.89%, MG 5.61% (eligible delivered orders). Observational relationship may reflect routes, sellers, seasonal demand and review selection.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Olist dataset, https://drive.google.com/drive/folders/1qmq0FkVqotNkjWcqJP1Wg_rntzlSvfs5 . Calculations: companion Olist_Assessment.ipynb and output/tables. Delivered merchandise GMV excludes freight. Historical 2016-2018 data.</a:t>
            </a:r>
          </a:p>
          <a:p xmlns:a="http://schemas.openxmlformats.org/drawingml/2006/main">
            <a:r>
              <a:t>Alpha=0.05. Welch H0: mean review score equal between late and on-time groups. H1: means differ. t=-89.4121464612284, df=8309.03228521667, p=&lt;1e-300. Late-minus-on-time gap -1.729044476766842, 95% CI [-1.7669516153158529,-1.6911373382178312], Hedges g=-1.4454613116962918. Spearman H0: rank correlation zero, H1: nonzero. n=95824, rho=-0.17593705467269516, p=&lt;1e-300. Mann-Whitney robustness p=&lt;1e-300. Mean-all-reviews gap -1.7277863340342652. Calendar-day definition review gap -2.0198955371964127. State/month adjusted descriptive odds ratio 10.712452639431298. Independence assumptions and ordinal review scores limit interpretation.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Olist dataset, https://drive.google.com/drive/folders/1qmq0FkVqotNkjWcqJP1Wg_rntzlSvfs5 . Calculations: companion Olist_Assessment.ipynb and output/tables. Delivered merchandise GMV excludes freight. Historical 2016-2018 data.</a:t>
            </a:r>
          </a:p>
          <a:p xmlns:a="http://schemas.openxmlformats.org/drawingml/2006/main">
            <a:r>
              <a:t>Features: gmv, freight, freight_ratio, n_items, n_sellers, n_categories, avg_item_price, weight_g, volume_cm3, distance_km, cross_state, promise_days, installments, payment_rows, previous_orders, previous_spend, month_sin, month_cos, purchase_weekday, purchase_hour, customer_state, seller_state, primary_category, payment_type. Checkout feature availability is assumed and needs event-log validation, especially payment, catalog and seller assignment snapshots. Exclude actual delivery, carrier handoff, approval times, reviews, order status, realized delay and full-period seller outcome rates. Strict previous customer purchases collapse equal timestamps before cumulative counts/spend. Median imputation, scaling and infrequent category encoding fit only on train. Train: 41197 orders, 5.2% late; Validation: 16782 orders, 8.4% late; Diagnostic: 19643 orders, 5.1% late; Test: 6156 orders, 4.5% late. Model selection is validation AP, threshold selection validation F2 with at most 20% alerts. The initial Apr-Jun diagnostic revealed continuous-time/month collinearity. Replace it with cyclical month before inspecting July.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Olist dataset, https://drive.google.com/drive/folders/1qmq0FkVqotNkjWcqJP1Wg_rntzlSvfs5 . Calculations: companion Olist_Assessment.ipynb and output/tables. Delivered merchandise GMV excludes freight. Historical 2016-2018 data.</a:t>
            </a:r>
          </a:p>
          <a:p xmlns:a="http://schemas.openxmlformats.org/drawingml/2006/main">
            <a:r>
              <a:t>Logistic won validation AP 0.1545895799. Selected threshold 0.6838238487759531. Test July 6156 orders, prevalence 0.044834308. ROC-AUC CI 0.6579454779711476,0.7200271190643038; AP CI 0.07906351195554581,0.1318559293234935. Selected confusion matrix TN 5311, FP 569, FN 211, TP 65. Brier 0.2232998840595819. Raw scores require calibration. RF achieves higher July recall, but was not selected because its validation AP was lower. Do not change selection after observing July. Top validation permutation features: promise_days, customer_state, avg_item_price, cross_state, distance_km. False alerts dominate at these thresholds, favoring low-cost interventions.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Olist dataset, https://drive.google.com/drive/folders/1qmq0FkVqotNkjWcqJP1Wg_rntzlSvfs5 . Calculations: companion Olist_Assessment.ipynb and output/tables. Delivered merchandise GMV excludes freight. Historical 2016-2018 data.</a:t>
            </a:r>
          </a:p>
          <a:p xmlns:a="http://schemas.openxmlformats.org/drawingml/2006/main">
            <a:r>
              <a:t>Recommendations are conditional experiments. Risk alert owner operations, 0-30 days. At July frozen threshold 634 alerts include 65 late orders. 20% intervention-success scenario means 13 fewer late outcomes. Seller route diagnostics owner logistics, days 30-60. 35 sellers meet &gt;=100 eligible orders and Wilson lower bound above baseline. Deduplicated portfolio 14423 orders, 1781 late. 20% reduction scenario 356.20000000000005 fewer late outcomes and BRL 44191.874 exposure addressed, not recovered revenue. CRM owner days 60-90. 4226 recent high-value first buyers. One point incremental repeat lift implies 42.26 orders, BRL 5791.377413800037 GMV at market AOV before costs. These portfolios overlap. Do not add scenarios. No margin/take-rate/cost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28a8735dcd7419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e72d472c0ce424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a59566e78a144a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096dbc89a3b452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6bc669c89d046b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096859caf6d4df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D4F381C-4722-4B16-9DE7-E14D4BFEA2E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3494620-C3B1-4472-AA93-BD0ADCF2095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20D8786-2009-4A14-9FE1-86F2B7C30C6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768E290-D207-4D1B-92BB-DEFCF37C314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913EEFE-2531-42B1-B5C6-EC254ED2431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BDB2F89-9862-43DC-9AB7-37F59310639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1386787-68D5-4C0F-9517-8B9FAA0AE85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4F2F08C-5B0F-48A6-BAC6-36A94C19153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03A4F61-AC8C-4710-97EC-6A50B8ECAC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401ABEC-A7C4-45C2-84CE-637E673418D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966aed3b8aa4fc6" /><Relationship Type="http://schemas.openxmlformats.org/officeDocument/2006/relationships/slideLayout" Target="/ppt/slideLayouts/slideLayout1.xml" Id="Re7fb0a3ce39e4616" /><Relationship Type="http://schemas.openxmlformats.org/officeDocument/2006/relationships/slideLayout" Target="/ppt/slideLayouts/slideLayout2.xml" Id="Rb6815ed094d6492f" /><Relationship Type="http://schemas.openxmlformats.org/officeDocument/2006/relationships/slideLayout" Target="/ppt/slideLayouts/slideLayout3.xml" Id="Rfc59e2997729424c" /><Relationship Type="http://schemas.openxmlformats.org/officeDocument/2006/relationships/slideLayout" Target="/ppt/slideLayouts/slideLayout4.xml" Id="R1b96dd8c9be94bd1" /><Relationship Type="http://schemas.openxmlformats.org/officeDocument/2006/relationships/slideLayout" Target="/ppt/slideLayouts/slideLayout5.xml" Id="R3a482c7488984e7a" /><Relationship Type="http://schemas.openxmlformats.org/officeDocument/2006/relationships/slideLayout" Target="/ppt/slideLayouts/slideLayout6.xml" Id="R35cad963a13b420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7fb0a3ce39e4616"/>
    <p:sldLayoutId xmlns:r="http://schemas.openxmlformats.org/officeDocument/2006/relationships" id="2147483650" r:id="Rb6815ed094d6492f"/>
    <p:sldLayoutId xmlns:r="http://schemas.openxmlformats.org/officeDocument/2006/relationships" id="2147483651" r:id="Rfc59e2997729424c"/>
    <p:sldLayoutId xmlns:r="http://schemas.openxmlformats.org/officeDocument/2006/relationships" id="2147483652" r:id="R1b96dd8c9be94bd1"/>
    <p:sldLayoutId xmlns:r="http://schemas.openxmlformats.org/officeDocument/2006/relationships" id="2147483653" r:id="R3a482c7488984e7a"/>
    <p:sldLayoutId xmlns:r="http://schemas.openxmlformats.org/officeDocument/2006/relationships" id="2147483654" r:id="R35cad963a13b420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376452d60244356" /><Relationship Type="http://schemas.openxmlformats.org/officeDocument/2006/relationships/notesSlide" Target="/ppt/notesSlides/notesSlide1.xml" Id="Rd71773224a67496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1976ce0ca754921" /><Relationship Type="http://schemas.openxmlformats.org/officeDocument/2006/relationships/notesSlide" Target="/ppt/notesSlides/notesSlide2.xml" Id="R334d0e3d665b45e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6b25d5c266b4d82" /><Relationship Type="http://schemas.openxmlformats.org/officeDocument/2006/relationships/chart" Target="/ppt/slides/charts/chart1.xml" Id="Rc2ba970024654dd5" /><Relationship Type="http://schemas.openxmlformats.org/officeDocument/2006/relationships/notesSlide" Target="/ppt/notesSlides/notesSlide3.xml" Id="Re4fbe56d2e3b4d2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ec12191395b48b7" /><Relationship Type="http://schemas.openxmlformats.org/officeDocument/2006/relationships/chart" Target="/ppt/slides/charts/chart2.xml" Id="Ra15737dcc1394674" /><Relationship Type="http://schemas.openxmlformats.org/officeDocument/2006/relationships/chart" Target="/ppt/slides/charts/chart3.xml" Id="R06d0c65a2dd94c63" /><Relationship Type="http://schemas.openxmlformats.org/officeDocument/2006/relationships/notesSlide" Target="/ppt/notesSlides/notesSlide4.xml" Id="R2f16e15a265a4af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61284cf8f9e4d17" /><Relationship Type="http://schemas.openxmlformats.org/officeDocument/2006/relationships/notesSlide" Target="/ppt/notesSlides/notesSlide5.xml" Id="R2a4a9ee54592478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0dec55521ee4e8c" /><Relationship Type="http://schemas.openxmlformats.org/officeDocument/2006/relationships/chart" Target="/ppt/slides/charts/chart4.xml" Id="Re75d3d4dc5334a22" /><Relationship Type="http://schemas.openxmlformats.org/officeDocument/2006/relationships/notesSlide" Target="/ppt/notesSlides/notesSlide6.xml" Id="R204ca23a23934d1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c37d18bb3b64c8c" /><Relationship Type="http://schemas.openxmlformats.org/officeDocument/2006/relationships/notesSlide" Target="/ppt/notesSlides/notesSlide7.xml" Id="R1173b17d98d7485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f8700c06c2b46c6" /><Relationship Type="http://schemas.openxmlformats.org/officeDocument/2006/relationships/notesSlide" Target="/ppt/notesSlides/notesSlide8.xml" Id="R53a348660c404aa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cf24a7d70eb47b6" /><Relationship Type="http://schemas.openxmlformats.org/officeDocument/2006/relationships/notesSlide" Target="/ppt/notesSlides/notesSlide9.xml" Id="Rbe901610de0c4de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a9b1808ce07470f" /><Relationship Type="http://schemas.openxmlformats.org/officeDocument/2006/relationships/notesSlide" Target="/ppt/notesSlides/notesSlide10.xml" Id="Re7b556ba4a384d7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GMV (BRL m)</c:v>
          </c:tx>
          <c:spPr>
            <a:ln xmlns:a="http://schemas.openxmlformats.org/drawingml/2006/main" w="28575">
              <a:solidFill>
                <a:srgbClr val="245ECB"/>
              </a:solidFill>
            </a:ln>
          </c:spPr>
          <c:marker>
            <c:symbol val="none"/>
          </c:marker>
          <c:cat>
            <c:strRef>
              <c:f>'Chart Data'!$A$2:$A$21</c:f>
              <c:strCache>
                <c:ptCount val="20"/>
                <c:pt idx="0">
                  <c:v>17-01</c:v>
                </c:pt>
                <c:pt idx="1">
                  <c:v>17-02</c:v>
                </c:pt>
                <c:pt idx="2">
                  <c:v>17-03</c:v>
                </c:pt>
                <c:pt idx="3">
                  <c:v>17-04</c:v>
                </c:pt>
                <c:pt idx="4">
                  <c:v>17-05</c:v>
                </c:pt>
                <c:pt idx="5">
                  <c:v>17-06</c:v>
                </c:pt>
                <c:pt idx="6">
                  <c:v>17-07</c:v>
                </c:pt>
                <c:pt idx="7">
                  <c:v>17-08</c:v>
                </c:pt>
                <c:pt idx="8">
                  <c:v>17-09</c:v>
                </c:pt>
                <c:pt idx="9">
                  <c:v>17-10</c:v>
                </c:pt>
                <c:pt idx="10">
                  <c:v>17-11</c:v>
                </c:pt>
                <c:pt idx="11">
                  <c:v>17-12</c:v>
                </c:pt>
                <c:pt idx="12">
                  <c:v>18-01</c:v>
                </c:pt>
                <c:pt idx="13">
                  <c:v>18-02</c:v>
                </c:pt>
                <c:pt idx="14">
                  <c:v>18-03</c:v>
                </c:pt>
                <c:pt idx="15">
                  <c:v>18-04</c:v>
                </c:pt>
                <c:pt idx="16">
                  <c:v>18-05</c:v>
                </c:pt>
                <c:pt idx="17">
                  <c:v>18-06</c:v>
                </c:pt>
                <c:pt idx="18">
                  <c:v>18-07</c:v>
                </c:pt>
                <c:pt idx="19">
                  <c:v>18-08</c:v>
                </c:pt>
              </c:strCache>
            </c:strRef>
          </c:cat>
          <c:val>
            <c:numRef>
              <c:f>'Chart Data'!$B$2:$B$21</c:f>
              <c:numCache>
                <c:formatCode>0.0</c:formatCode>
                <c:ptCount val="20"/>
                <c:pt idx="0">
                  <c:v>0.11179836</c:v>
                </c:pt>
                <c:pt idx="1">
                  <c:v>0.2342234</c:v>
                </c:pt>
                <c:pt idx="2">
                  <c:v>0.35919885</c:v>
                </c:pt>
                <c:pt idx="3">
                  <c:v>0.34066968</c:v>
                </c:pt>
                <c:pt idx="4">
                  <c:v>0.48933825</c:v>
                </c:pt>
                <c:pt idx="5">
                  <c:v>0.42192337</c:v>
                </c:pt>
                <c:pt idx="6">
                  <c:v>0.48160452</c:v>
                </c:pt>
                <c:pt idx="7">
                  <c:v>0.5546997</c:v>
                </c:pt>
                <c:pt idx="8">
                  <c:v>0.60739967</c:v>
                </c:pt>
                <c:pt idx="9">
                  <c:v>0.64824765</c:v>
                </c:pt>
                <c:pt idx="10">
                  <c:v>0.98776537</c:v>
                </c:pt>
                <c:pt idx="11">
                  <c:v>0.72603319</c:v>
                </c:pt>
                <c:pt idx="12">
                  <c:v>0.924645</c:v>
                </c:pt>
                <c:pt idx="13">
                  <c:v>0.82643713</c:v>
                </c:pt>
                <c:pt idx="14">
                  <c:v>0.95335625</c:v>
                </c:pt>
                <c:pt idx="15">
                  <c:v>0.97353409</c:v>
                </c:pt>
                <c:pt idx="16">
                  <c:v>0.97754469</c:v>
                </c:pt>
                <c:pt idx="17">
                  <c:v>0.85607786</c:v>
                </c:pt>
                <c:pt idx="18">
                  <c:v>0.86795346</c:v>
                </c:pt>
                <c:pt idx="19">
                  <c:v>0.83857664</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CE5EF"/>
            </a:solidFill>
          </a:ln>
        </c:spPr>
        <c:txPr>
          <a:bodyPr xmlns:a="http://schemas.openxmlformats.org/drawingml/2006/main" anchorCtr="1"/>
          <a:lstStyle xmlns:a="http://schemas.openxmlformats.org/drawingml/2006/main"/>
          <a:p xmlns:a="http://schemas.openxmlformats.org/drawingml/2006/main">
            <a:pPr>
              <a:defRPr sz="1275">
                <a:solidFill>
                  <a:srgbClr val="54667A"/>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E5EAF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BRL millions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varyColors val="0"/>
        <c:ser>
          <c:idx val="0"/>
          <c:order val="0"/>
          <c:tx>
            <c:v>GMV</c:v>
          </c:tx>
          <c:spPr>
            <a:solidFill xmlns:a="http://schemas.openxmlformats.org/drawingml/2006/main">
              <a:srgbClr val="245ECB"/>
            </a:solidFill>
          </c:spPr>
          <c:cat>
            <c:strRef>
              <c:f>'Chart Data'!$A$2:$A$6</c:f>
              <c:strCache>
                <c:ptCount val="5"/>
                <c:pt idx="0">
                  <c:v>computers accessories</c:v>
                </c:pt>
                <c:pt idx="1">
                  <c:v>sports leisure</c:v>
                </c:pt>
                <c:pt idx="2">
                  <c:v>bed bath table</c:v>
                </c:pt>
                <c:pt idx="3">
                  <c:v>watches gifts</c:v>
                </c:pt>
                <c:pt idx="4">
                  <c:v>health beauty</c:v>
                </c:pt>
              </c:strCache>
            </c:strRef>
          </c:cat>
          <c:val>
            <c:numRef>
              <c:f>'Chart Data'!$B$2:$B$6</c:f>
              <c:numCache>
                <c:formatCode>0.0</c:formatCode>
                <c:ptCount val="5"/>
                <c:pt idx="0">
                  <c:v>0.88872461</c:v>
                </c:pt>
                <c:pt idx="1">
                  <c:v>0.95485255</c:v>
                </c:pt>
                <c:pt idx="2">
                  <c:v>1.02343476</c:v>
                </c:pt>
                <c:pt idx="3">
                  <c:v>1.16617698</c:v>
                </c:pt>
                <c:pt idx="4">
                  <c:v>1.23313172</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catAx>
      <c:valAx>
        <c:axId val="48672768"/>
        <c:scaling>
          <c:orientation val="minMax"/>
          <c:max val="1.5"/>
          <c:min val="0"/>
        </c:scaling>
        <c:delete val="0"/>
        <c:axPos val="b"/>
        <c:majorGridlines>
          <c:spPr>
            <a:ln xmlns:a="http://schemas.openxmlformats.org/drawingml/2006/main" w="9525">
              <a:solidFill>
                <a:srgbClr val="E5EAF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BRL millions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50112"/>
        <c:crossBetween val="between"/>
        <c:majorUnit val="0.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varyColors val="0"/>
        <c:ser>
          <c:idx val="0"/>
          <c:order val="0"/>
          <c:tx>
            <c:v>GMV</c:v>
          </c:tx>
          <c:spPr>
            <a:solidFill xmlns:a="http://schemas.openxmlformats.org/drawingml/2006/main">
              <a:srgbClr val="007D7C"/>
            </a:solidFill>
          </c:spPr>
          <c:cat>
            <c:strRef>
              <c:f>'Chart Data'!$A$2:$A$6</c:f>
              <c:strCache>
                <c:ptCount val="5"/>
                <c:pt idx="0">
                  <c:v>PR</c:v>
                </c:pt>
                <c:pt idx="1">
                  <c:v>RS</c:v>
                </c:pt>
                <c:pt idx="2">
                  <c:v>MG</c:v>
                </c:pt>
                <c:pt idx="3">
                  <c:v>RJ</c:v>
                </c:pt>
                <c:pt idx="4">
                  <c:v>SP</c:v>
                </c:pt>
              </c:strCache>
            </c:strRef>
          </c:cat>
          <c:val>
            <c:numRef>
              <c:f>'Chart Data'!$B$2:$B$6</c:f>
              <c:numCache>
                <c:formatCode>0.0</c:formatCode>
                <c:ptCount val="5"/>
                <c:pt idx="0">
                  <c:v>0.66606351</c:v>
                </c:pt>
                <c:pt idx="1">
                  <c:v>0.72889747</c:v>
                </c:pt>
                <c:pt idx="2">
                  <c:v>1.55248183</c:v>
                </c:pt>
                <c:pt idx="3">
                  <c:v>1.75965113</c:v>
                </c:pt>
                <c:pt idx="4">
                  <c:v>5.06763316</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max val="6"/>
          <c:min val="0"/>
        </c:scaling>
        <c:delete val="0"/>
        <c:axPos val="b"/>
        <c:majorGridlines>
          <c:spPr>
            <a:ln xmlns:a="http://schemas.openxmlformats.org/drawingml/2006/main" w="9525">
              <a:solidFill>
                <a:srgbClr val="E5EAF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BRL millions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50112"/>
        <c:crossBetween val="between"/>
        <c:majorUnit val="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varyColors val="0"/>
        <c:ser>
          <c:idx val="0"/>
          <c:order val="0"/>
          <c:tx>
            <c:v>Mean review</c:v>
          </c:tx>
          <c:spPr>
            <a:solidFill xmlns:a="http://schemas.openxmlformats.org/drawingml/2006/main">
              <a:srgbClr val="245ECB"/>
            </a:solidFill>
          </c:spPr>
          <c:dPt>
            <c:idx val="1"/>
            <c:invertIfNegative val="0"/>
            <c:spPr>
              <a:solidFill xmlns:a="http://schemas.openxmlformats.org/drawingml/2006/main">
                <a:srgbClr val="BD3D4B"/>
              </a:solidFill>
            </c:spPr>
          </c:dPt>
          <c:cat>
            <c:strRef>
              <c:f>'Chart Data'!$A$2:$A$3</c:f>
              <c:strCache>
                <c:ptCount val="2"/>
                <c:pt idx="0">
                  <c:v>On time</c:v>
                </c:pt>
                <c:pt idx="1">
                  <c:v>Late</c:v>
                </c:pt>
              </c:strCache>
            </c:strRef>
          </c:cat>
          <c:val>
            <c:numRef>
              <c:f>'Chart Data'!$B$2:$B$3</c:f>
              <c:numCache>
                <c:formatCode>General</c:formatCode>
                <c:ptCount val="2"/>
                <c:pt idx="0">
                  <c:v>4.29411431099</c:v>
                </c:pt>
                <c:pt idx="1">
                  <c:v>2.56506983423</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875" b="1">
                  <a:solidFill>
                    <a:srgbClr val="152B45"/>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5EF"/>
            </a:solidFill>
          </a:ln>
        </c:spPr>
        <c:txPr>
          <a:bodyPr xmlns:a="http://schemas.openxmlformats.org/drawingml/2006/main" anchorCtr="1"/>
          <a:lstStyle xmlns:a="http://schemas.openxmlformats.org/drawingml/2006/main"/>
          <a:p xmlns:a="http://schemas.openxmlformats.org/drawingml/2006/main">
            <a:pPr>
              <a:defRPr sz="1275">
                <a:solidFill>
                  <a:srgbClr val="54667A"/>
                </a:solidFill>
                <a:latin typeface="Arial"/>
                <a:ea typeface="Arial"/>
                <a:cs typeface="Arial"/>
              </a:defRPr>
            </a:pPr>
          </a:p>
        </c:txPr>
        <c:crossAx val="48672768"/>
      </c:catAx>
      <c:valAx>
        <c:axId val="48672768"/>
        <c:scaling>
          <c:orientation val="minMax"/>
          <c:max val="5"/>
          <c:min val="0"/>
        </c:scaling>
        <c:delete val="0"/>
        <c:axPos val="l"/>
        <c:majorGridlines>
          <c:spPr>
            <a:ln xmlns:a="http://schemas.openxmlformats.org/drawingml/2006/main" w="9525">
              <a:solidFill>
                <a:srgbClr val="E5EAF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Mean latest review score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50112"/>
        <c:crossBetween val="between"/>
        <c:majorUnit val="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52B4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B647B2B-B846-41DC-9B50-E4FD592E27D5}"/>
              </a:ext>
            </a:extLst>
          </p:cNvPr>
          <p:cNvSpPr>
            <a:spLocks xmlns:a="http://schemas.openxmlformats.org/drawingml/2006/main" noGrp="1"/>
          </p:cNvSpPr>
          <p:nvPr/>
        </p:nvSpPr>
        <p:spPr>
          <a:xfrm xmlns:a="http://schemas.openxmlformats.org/drawingml/2006/main">
            <a:off x="609600" y="428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FFFFFF"/>
                </a:solidFill>
                <a:latin typeface="Arial"/>
                <a:ea typeface="Arial"/>
                <a:cs typeface="Arial"/>
              </a:defRPr>
            </a:def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Olist marketplace decisions</a:t>
            </a:r>
          </a:p>
        </p:txBody>
      </p:sp>
      <p:sp>
        <p:nvSpPr>
          <p:cNvPr id="2" name="">
            <a:extLst xmlns:a="http://schemas.openxmlformats.org/drawingml/2006/main">
              <a:ext uri="{FF2B5EF4-FFF2-40B4-BE49-F238E27FC236}">
                <a16:creationId xmlns:a16="http://schemas.microsoft.com/office/drawing/2014/main" id="{F5FFAE97-9684-483F-9F12-0D62ACCC3296}"/>
              </a:ext>
            </a:extLst>
          </p:cNvPr>
          <p:cNvSpPr>
            <a:spLocks xmlns:a="http://schemas.openxmlformats.org/drawingml/2006/main" noGrp="1"/>
          </p:cNvSpPr>
          <p:nvPr/>
        </p:nvSpPr>
        <p:spPr>
          <a:xfrm xmlns:a="http://schemas.openxmlformats.org/drawingml/2006/main">
            <a:off x="10763250" y="6438900"/>
            <a:ext cx="819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C6D6E9"/>
                </a:solidFill>
                <a:latin typeface="Arial"/>
                <a:ea typeface="Arial"/>
                <a:cs typeface="Arial"/>
              </a:defRPr>
            </a:defPPr>
          </a:lstStyle>
          <a:p xmlns:a="http://schemas.openxmlformats.org/drawingml/2006/main">
            <a:pPr>
              <a:defRPr sz="1050" b="0">
                <a:solidFill>
                  <a:srgbClr val="C6D6E9"/>
                </a:solidFill>
                <a:latin typeface="Arial"/>
                <a:ea typeface="Arial"/>
                <a:cs typeface="Arial"/>
              </a:defRPr>
            </a:pPr>
            <a:r>
              <a:rPr sz="1050" b="0">
                <a:solidFill>
                  <a:srgbClr val="C6D6E9"/>
                </a:solidFill>
                <a:latin typeface="Arial"/>
                <a:ea typeface="Arial"/>
                <a:cs typeface="Arial"/>
              </a:rPr>
              <a:t>1 / 10</a:t>
            </a:r>
          </a:p>
        </p:txBody>
      </p:sp>
      <p:sp>
        <p:nvSpPr>
          <p:cNvPr id="3" name="">
            <a:extLst xmlns:a="http://schemas.openxmlformats.org/drawingml/2006/main">
              <a:ext uri="{FF2B5EF4-FFF2-40B4-BE49-F238E27FC236}">
                <a16:creationId xmlns:a16="http://schemas.microsoft.com/office/drawing/2014/main" id="{614136C6-7E71-4698-90F7-97E4F5DDA88A}"/>
              </a:ext>
            </a:extLst>
          </p:cNvPr>
          <p:cNvSpPr>
            <a:spLocks xmlns:a="http://schemas.openxmlformats.org/drawingml/2006/main" noGrp="1"/>
          </p:cNvSpPr>
          <p:nvPr/>
        </p:nvSpPr>
        <p:spPr>
          <a:xfrm xmlns:a="http://schemas.openxmlformats.org/drawingml/2006/main">
            <a:off x="609600" y="1828800"/>
            <a:ext cx="10001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75" b="1">
                <a:solidFill>
                  <a:srgbClr val="FFFFFF"/>
                </a:solidFill>
                <a:latin typeface="Arial"/>
                <a:ea typeface="Arial"/>
                <a:cs typeface="Arial"/>
              </a:defRPr>
            </a:defPPr>
          </a:lstStyle>
          <a:p xmlns:a="http://schemas.openxmlformats.org/drawingml/2006/main">
            <a:pPr>
              <a:defRPr sz="4275" b="1">
                <a:solidFill>
                  <a:srgbClr val="FFFFFF"/>
                </a:solidFill>
                <a:latin typeface="Arial"/>
                <a:ea typeface="Arial"/>
                <a:cs typeface="Arial"/>
              </a:defRPr>
            </a:pPr>
            <a:r>
              <a:rPr sz="4275" b="1">
                <a:solidFill>
                  <a:srgbClr val="FFFFFF"/>
                </a:solidFill>
                <a:latin typeface="Arial"/>
                <a:ea typeface="Arial"/>
                <a:cs typeface="Arial"/>
              </a:rPr>
              <a:t>Growth, customer experience</a:t>
            </a:r>
          </a:p>
          <a:p xmlns:a="http://schemas.openxmlformats.org/drawingml/2006/main">
            <a:pPr>
              <a:defRPr sz="4275" b="1">
                <a:solidFill>
                  <a:srgbClr val="FFFFFF"/>
                </a:solidFill>
                <a:latin typeface="Arial"/>
                <a:ea typeface="Arial"/>
                <a:cs typeface="Arial"/>
              </a:defRPr>
            </a:pPr>
            <a:r>
              <a:rPr sz="4275" b="1">
                <a:solidFill>
                  <a:srgbClr val="FFFFFF"/>
                </a:solidFill>
                <a:latin typeface="Arial"/>
                <a:ea typeface="Arial"/>
                <a:cs typeface="Arial"/>
              </a:rPr>
              <a:t>and delivery risk</a:t>
            </a:r>
          </a:p>
        </p:txBody>
      </p:sp>
      <p:sp>
        <p:nvSpPr>
          <p:cNvPr id="4" name="">
            <a:extLst xmlns:a="http://schemas.openxmlformats.org/drawingml/2006/main">
              <a:ext uri="{FF2B5EF4-FFF2-40B4-BE49-F238E27FC236}">
                <a16:creationId xmlns:a16="http://schemas.microsoft.com/office/drawing/2014/main" id="{A3FFDDB9-8016-49B2-A055-CC2949DB5940}"/>
              </a:ext>
            </a:extLst>
          </p:cNvPr>
          <p:cNvSpPr>
            <a:spLocks xmlns:a="http://schemas.openxmlformats.org/drawingml/2006/main" noGrp="1"/>
          </p:cNvSpPr>
          <p:nvPr/>
        </p:nvSpPr>
        <p:spPr>
          <a:xfrm xmlns:a="http://schemas.openxmlformats.org/drawingml/2006/main">
            <a:off x="609600" y="3905250"/>
            <a:ext cx="952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6D6E9"/>
                </a:solidFill>
                <a:latin typeface="Arial"/>
                <a:ea typeface="Arial"/>
                <a:cs typeface="Arial"/>
              </a:defRPr>
            </a:defPPr>
          </a:lstStyle>
          <a:p xmlns:a="http://schemas.openxmlformats.org/drawingml/2006/main">
            <a:pPr>
              <a:defRPr sz="2100" b="0">
                <a:solidFill>
                  <a:srgbClr val="C6D6E9"/>
                </a:solidFill>
                <a:latin typeface="Arial"/>
                <a:ea typeface="Arial"/>
                <a:cs typeface="Arial"/>
              </a:defRPr>
            </a:pPr>
            <a:r>
              <a:rPr sz="2100" b="0">
                <a:solidFill>
                  <a:srgbClr val="C6D6E9"/>
                </a:solidFill>
                <a:latin typeface="Arial"/>
                <a:ea typeface="Arial"/>
                <a:cs typeface="Arial"/>
              </a:rPr>
              <a:t>Leadership assessment</a:t>
            </a:r>
          </a:p>
        </p:txBody>
      </p:sp>
      <p:sp>
        <p:nvSpPr>
          <p:cNvPr id="5" name="">
            <a:extLst xmlns:a="http://schemas.openxmlformats.org/drawingml/2006/main">
              <a:ext uri="{FF2B5EF4-FFF2-40B4-BE49-F238E27FC236}">
                <a16:creationId xmlns:a16="http://schemas.microsoft.com/office/drawing/2014/main" id="{1EA0A98B-8604-48F8-B5B5-E775E6624CE9}"/>
              </a:ext>
            </a:extLst>
          </p:cNvPr>
          <p:cNvSpPr>
            <a:spLocks xmlns:a="http://schemas.openxmlformats.org/drawingml/2006/main" noGrp="1"/>
          </p:cNvSpPr>
          <p:nvPr/>
        </p:nvSpPr>
        <p:spPr>
          <a:xfrm xmlns:a="http://schemas.openxmlformats.org/drawingml/2006/main">
            <a:off x="609600" y="438150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C6D6E9"/>
                </a:solidFill>
                <a:latin typeface="Arial"/>
                <a:ea typeface="Arial"/>
                <a:cs typeface="Arial"/>
              </a:defRPr>
            </a:defPPr>
          </a:lstStyle>
          <a:p xmlns:a="http://schemas.openxmlformats.org/drawingml/2006/main">
            <a:pPr>
              <a:defRPr sz="1800" b="0">
                <a:solidFill>
                  <a:srgbClr val="C6D6E9"/>
                </a:solidFill>
                <a:latin typeface="Arial"/>
                <a:ea typeface="Arial"/>
                <a:cs typeface="Arial"/>
              </a:defRPr>
            </a:pPr>
            <a:r>
              <a:rPr sz="1800" b="0">
                <a:solidFill>
                  <a:srgbClr val="C6D6E9"/>
                </a:solidFill>
                <a:latin typeface="Arial"/>
                <a:ea typeface="Arial"/>
                <a:cs typeface="Arial"/>
              </a:rPr>
              <a:t>Historical Brazilian marketplace data, 2016-2018</a:t>
            </a:r>
          </a:p>
        </p:txBody>
      </p:sp>
      <p:sp>
        <p:nvSpPr>
          <p:cNvPr id="6" name="">
            <a:extLst xmlns:a="http://schemas.openxmlformats.org/drawingml/2006/main">
              <a:ext uri="{FF2B5EF4-FFF2-40B4-BE49-F238E27FC236}">
                <a16:creationId xmlns:a16="http://schemas.microsoft.com/office/drawing/2014/main" id="{60A4BA5F-B53F-4C9D-9335-0E843496AA57}"/>
              </a:ext>
            </a:extLst>
          </p:cNvPr>
          <p:cNvSpPr>
            <a:spLocks xmlns:a="http://schemas.openxmlformats.org/drawingml/2006/main" noGrp="1"/>
          </p:cNvSpPr>
          <p:nvPr/>
        </p:nvSpPr>
        <p:spPr>
          <a:xfrm xmlns:a="http://schemas.openxmlformats.org/drawingml/2006/main">
            <a:off x="609600" y="5467350"/>
            <a:ext cx="1057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FFFFF"/>
                </a:solidFill>
                <a:latin typeface="Arial"/>
                <a:ea typeface="Arial"/>
                <a:cs typeface="Arial"/>
              </a:defRPr>
            </a:defPPr>
          </a:lstStyle>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Three investment decisions supported by reproducible analysis</a:t>
            </a:r>
          </a:p>
        </p:txBody>
      </p:sp>
    </p:spTree>
    <p:extLst>
      <p:ext uri="{BB962C8B-B14F-4D97-AF65-F5344CB8AC3E}">
        <p14:creationId xmlns:p14="http://schemas.microsoft.com/office/powerpoint/2010/main" val="105239611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4340D1F-5304-4FDC-BD30-CA3654F75AFA}"/>
              </a:ext>
            </a:extLst>
          </p:cNvPr>
          <p:cNvSpPr>
            <a:spLocks xmlns:a="http://schemas.openxmlformats.org/drawingml/2006/main" noGrp="1"/>
          </p:cNvSpPr>
          <p:nvPr/>
        </p:nvSpPr>
        <p:spPr>
          <a:xfrm xmlns:a="http://schemas.openxmlformats.org/drawingml/2006/main">
            <a:off x="609600" y="428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52B45"/>
                </a:solidFill>
                <a:latin typeface="Arial"/>
                <a:ea typeface="Arial"/>
                <a:cs typeface="Arial"/>
              </a:defRPr>
            </a:defPPr>
          </a:lstStyle>
          <a:p xmlns:a="http://schemas.openxmlformats.org/drawingml/2006/main">
            <a:pPr>
              <a:defRPr sz="3225" b="1">
                <a:solidFill>
                  <a:srgbClr val="152B45"/>
                </a:solidFill>
                <a:latin typeface="Arial"/>
                <a:ea typeface="Arial"/>
                <a:cs typeface="Arial"/>
              </a:defRPr>
            </a:pPr>
            <a:r>
              <a:rPr sz="3225" b="1">
                <a:solidFill>
                  <a:srgbClr val="152B45"/>
                </a:solidFill>
                <a:latin typeface="Arial"/>
                <a:ea typeface="Arial"/>
                <a:cs typeface="Arial"/>
              </a:rPr>
              <a:t>Data and decision rules</a:t>
            </a:r>
          </a:p>
        </p:txBody>
      </p:sp>
      <p:sp>
        <p:nvSpPr>
          <p:cNvPr id="2" name="">
            <a:extLst xmlns:a="http://schemas.openxmlformats.org/drawingml/2006/main">
              <a:ext uri="{FF2B5EF4-FFF2-40B4-BE49-F238E27FC236}">
                <a16:creationId xmlns:a16="http://schemas.microsoft.com/office/drawing/2014/main" id="{B864F814-CBCE-46CD-9B6A-5010BA0B34EF}"/>
              </a:ext>
            </a:extLst>
          </p:cNvPr>
          <p:cNvSpPr>
            <a:spLocks xmlns:a="http://schemas.openxmlformats.org/drawingml/2006/main" noGrp="1"/>
          </p:cNvSpPr>
          <p:nvPr/>
        </p:nvSpPr>
        <p:spPr>
          <a:xfrm xmlns:a="http://schemas.openxmlformats.org/drawingml/2006/main">
            <a:off x="10763250" y="6438900"/>
            <a:ext cx="819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4667A"/>
                </a:solidFill>
                <a:latin typeface="Arial"/>
                <a:ea typeface="Arial"/>
                <a:cs typeface="Arial"/>
              </a:defRPr>
            </a:defPPr>
          </a:lstStyle>
          <a:p xmlns:a="http://schemas.openxmlformats.org/drawingml/2006/main">
            <a:pPr>
              <a:defRPr sz="1050" b="0">
                <a:solidFill>
                  <a:srgbClr val="54667A"/>
                </a:solidFill>
                <a:latin typeface="Arial"/>
                <a:ea typeface="Arial"/>
                <a:cs typeface="Arial"/>
              </a:defRPr>
            </a:pPr>
            <a:r>
              <a:rPr sz="1050" b="0">
                <a:solidFill>
                  <a:srgbClr val="54667A"/>
                </a:solidFill>
                <a:latin typeface="Arial"/>
                <a:ea typeface="Arial"/>
                <a:cs typeface="Arial"/>
              </a:rPr>
              <a:t>2 / 10</a:t>
            </a:r>
          </a:p>
        </p:txBody>
      </p:sp>
      <p:sp>
        <p:nvSpPr>
          <p:cNvPr id="3" name="">
            <a:extLst xmlns:a="http://schemas.openxmlformats.org/drawingml/2006/main">
              <a:ext uri="{FF2B5EF4-FFF2-40B4-BE49-F238E27FC236}">
                <a16:creationId xmlns:a16="http://schemas.microsoft.com/office/drawing/2014/main" id="{A9DB2BB6-88A2-4397-BDF9-2F42388B4435}"/>
              </a:ext>
            </a:extLst>
          </p:cNvPr>
          <p:cNvSpPr>
            <a:spLocks xmlns:a="http://schemas.openxmlformats.org/drawingml/2006/main" noGrp="1"/>
          </p:cNvSpPr>
          <p:nvPr/>
        </p:nvSpPr>
        <p:spPr>
          <a:xfrm xmlns:a="http://schemas.openxmlformats.org/drawingml/2006/main">
            <a:off x="609600" y="1619250"/>
            <a:ext cx="4381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650" b="1">
                <a:solidFill>
                  <a:srgbClr val="245ECB"/>
                </a:solidFill>
                <a:latin typeface="Arial"/>
                <a:ea typeface="Arial"/>
                <a:cs typeface="Arial"/>
              </a:defRPr>
            </a:defPPr>
          </a:lstStyle>
          <a:p xmlns:a="http://schemas.openxmlformats.org/drawingml/2006/main">
            <a:pPr>
              <a:defRPr sz="4650" b="1">
                <a:solidFill>
                  <a:srgbClr val="245ECB"/>
                </a:solidFill>
                <a:latin typeface="Arial"/>
                <a:ea typeface="Arial"/>
                <a:cs typeface="Arial"/>
              </a:defRPr>
            </a:pPr>
            <a:r>
              <a:rPr sz="4650" b="1">
                <a:solidFill>
                  <a:srgbClr val="245ECB"/>
                </a:solidFill>
                <a:latin typeface="Arial"/>
                <a:ea typeface="Arial"/>
                <a:cs typeface="Arial"/>
              </a:rPr>
              <a:t>99,441</a:t>
            </a:r>
          </a:p>
        </p:txBody>
      </p:sp>
      <p:sp>
        <p:nvSpPr>
          <p:cNvPr id="4" name="">
            <a:extLst xmlns:a="http://schemas.openxmlformats.org/drawingml/2006/main">
              <a:ext uri="{FF2B5EF4-FFF2-40B4-BE49-F238E27FC236}">
                <a16:creationId xmlns:a16="http://schemas.microsoft.com/office/drawing/2014/main" id="{877355DC-9507-4AC4-B78A-3A6CC13B97F7}"/>
              </a:ext>
            </a:extLst>
          </p:cNvPr>
          <p:cNvSpPr>
            <a:spLocks xmlns:a="http://schemas.openxmlformats.org/drawingml/2006/main" noGrp="1"/>
          </p:cNvSpPr>
          <p:nvPr/>
        </p:nvSpPr>
        <p:spPr>
          <a:xfrm xmlns:a="http://schemas.openxmlformats.org/drawingml/2006/main">
            <a:off x="609600" y="2381250"/>
            <a:ext cx="466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4667A"/>
                </a:solidFill>
                <a:latin typeface="Arial"/>
                <a:ea typeface="Arial"/>
                <a:cs typeface="Arial"/>
              </a:defRPr>
            </a:defPPr>
          </a:lstStyle>
          <a:p xmlns:a="http://schemas.openxmlformats.org/drawingml/2006/main">
            <a:pPr>
              <a:defRPr sz="1425" b="0">
                <a:solidFill>
                  <a:srgbClr val="54667A"/>
                </a:solidFill>
                <a:latin typeface="Arial"/>
                <a:ea typeface="Arial"/>
                <a:cs typeface="Arial"/>
              </a:defRPr>
            </a:pPr>
            <a:r>
              <a:rPr sz="1425" b="0">
                <a:solidFill>
                  <a:srgbClr val="54667A"/>
                </a:solidFill>
                <a:latin typeface="Arial"/>
                <a:ea typeface="Arial"/>
                <a:cs typeface="Arial"/>
              </a:rPr>
              <a:t>orders across nine source files</a:t>
            </a:r>
          </a:p>
        </p:txBody>
      </p:sp>
      <p:sp>
        <p:nvSpPr>
          <p:cNvPr id="5" name="">
            <a:extLst xmlns:a="http://schemas.openxmlformats.org/drawingml/2006/main">
              <a:ext uri="{FF2B5EF4-FFF2-40B4-BE49-F238E27FC236}">
                <a16:creationId xmlns:a16="http://schemas.microsoft.com/office/drawing/2014/main" id="{8E6E5AFD-BB92-44B0-84E1-3FB412F209DB}"/>
              </a:ext>
            </a:extLst>
          </p:cNvPr>
          <p:cNvSpPr>
            <a:spLocks xmlns:a="http://schemas.openxmlformats.org/drawingml/2006/main" noGrp="1"/>
          </p:cNvSpPr>
          <p:nvPr/>
        </p:nvSpPr>
        <p:spPr>
          <a:xfrm xmlns:a="http://schemas.openxmlformats.org/drawingml/2006/main">
            <a:off x="609600" y="309562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52B45"/>
                </a:solidFill>
                <a:latin typeface="Arial"/>
                <a:ea typeface="Arial"/>
                <a:cs typeface="Arial"/>
              </a:defRPr>
            </a:defPPr>
          </a:lstStyle>
          <a:p xmlns:a="http://schemas.openxmlformats.org/drawingml/2006/main">
            <a:pPr>
              <a:defRPr sz="2325" b="1">
                <a:solidFill>
                  <a:srgbClr val="152B45"/>
                </a:solidFill>
                <a:latin typeface="Arial"/>
                <a:ea typeface="Arial"/>
                <a:cs typeface="Arial"/>
              </a:defRPr>
            </a:pPr>
            <a:r>
              <a:rPr sz="2325" b="1">
                <a:solidFill>
                  <a:srgbClr val="152B45"/>
                </a:solidFill>
                <a:latin typeface="Arial"/>
                <a:ea typeface="Arial"/>
                <a:cs typeface="Arial"/>
              </a:rPr>
              <a:t>One row per order</a:t>
            </a:r>
          </a:p>
        </p:txBody>
      </p:sp>
      <p:sp>
        <p:nvSpPr>
          <p:cNvPr id="6" name="">
            <a:extLst xmlns:a="http://schemas.openxmlformats.org/drawingml/2006/main">
              <a:ext uri="{FF2B5EF4-FFF2-40B4-BE49-F238E27FC236}">
                <a16:creationId xmlns:a16="http://schemas.microsoft.com/office/drawing/2014/main" id="{81B84DF8-785D-4E21-961D-D76225744106}"/>
              </a:ext>
            </a:extLst>
          </p:cNvPr>
          <p:cNvSpPr>
            <a:spLocks xmlns:a="http://schemas.openxmlformats.org/drawingml/2006/main" noGrp="1"/>
          </p:cNvSpPr>
          <p:nvPr/>
        </p:nvSpPr>
        <p:spPr>
          <a:xfrm xmlns:a="http://schemas.openxmlformats.org/drawingml/2006/main">
            <a:off x="609600" y="3648075"/>
            <a:ext cx="4619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52B45"/>
                </a:solidFill>
                <a:latin typeface="Arial"/>
                <a:ea typeface="Arial"/>
                <a:cs typeface="Arial"/>
              </a:defRPr>
            </a:defPPr>
          </a:lstStyle>
          <a:p xmlns:a="http://schemas.openxmlformats.org/drawingml/2006/main">
            <a:pPr>
              <a:defRPr sz="2025" b="0">
                <a:solidFill>
                  <a:srgbClr val="152B45"/>
                </a:solidFill>
                <a:latin typeface="Arial"/>
                <a:ea typeface="Arial"/>
                <a:cs typeface="Arial"/>
              </a:defRPr>
            </a:pPr>
            <a:r>
              <a:rPr sz="2025" b="0">
                <a:solidFill>
                  <a:srgbClr val="152B45"/>
                </a:solidFill>
                <a:latin typeface="Arial"/>
                <a:ea typeface="Arial"/>
                <a:cs typeface="Arial"/>
              </a:rPr>
              <a:t>Aggregate items, payments and reviews before joining. Use unique customer identities for repeat behavior.</a:t>
            </a:r>
          </a:p>
        </p:txBody>
      </p:sp>
      <p:sp>
        <p:nvSpPr>
          <p:cNvPr id="7" name="">
            <a:extLst xmlns:a="http://schemas.openxmlformats.org/drawingml/2006/main">
              <a:ext uri="{FF2B5EF4-FFF2-40B4-BE49-F238E27FC236}">
                <a16:creationId xmlns:a16="http://schemas.microsoft.com/office/drawing/2014/main" id="{C7EAAD00-6143-407D-84B8-ABCC52D45B4D}"/>
              </a:ext>
            </a:extLst>
          </p:cNvPr>
          <p:cNvSpPr>
            <a:spLocks xmlns:a="http://schemas.openxmlformats.org/drawingml/2006/main" noGrp="1"/>
          </p:cNvSpPr>
          <p:nvPr/>
        </p:nvSpPr>
        <p:spPr>
          <a:xfrm xmlns:a="http://schemas.openxmlformats.org/drawingml/2006/main">
            <a:off x="6334125" y="1714500"/>
            <a:ext cx="5095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52B45"/>
                </a:solidFill>
                <a:latin typeface="Arial"/>
                <a:ea typeface="Arial"/>
                <a:cs typeface="Arial"/>
              </a:defRPr>
            </a:defPPr>
          </a:lstStyle>
          <a:p xmlns:a="http://schemas.openxmlformats.org/drawingml/2006/main">
            <a:pPr>
              <a:defRPr sz="2325" b="1">
                <a:solidFill>
                  <a:srgbClr val="152B45"/>
                </a:solidFill>
                <a:latin typeface="Arial"/>
                <a:ea typeface="Arial"/>
                <a:cs typeface="Arial"/>
              </a:defRPr>
            </a:pPr>
            <a:r>
              <a:rPr sz="2325" b="1">
                <a:solidFill>
                  <a:srgbClr val="152B45"/>
                </a:solidFill>
                <a:latin typeface="Arial"/>
                <a:ea typeface="Arial"/>
                <a:cs typeface="Arial"/>
              </a:rPr>
              <a:t>Revenue = delivered merchandise GMV</a:t>
            </a:r>
          </a:p>
        </p:txBody>
      </p:sp>
      <p:sp>
        <p:nvSpPr>
          <p:cNvPr id="8" name="">
            <a:extLst xmlns:a="http://schemas.openxmlformats.org/drawingml/2006/main">
              <a:ext uri="{FF2B5EF4-FFF2-40B4-BE49-F238E27FC236}">
                <a16:creationId xmlns:a16="http://schemas.microsoft.com/office/drawing/2014/main" id="{31220DB3-489A-44FC-A374-03676B62C65E}"/>
              </a:ext>
            </a:extLst>
          </p:cNvPr>
          <p:cNvSpPr>
            <a:spLocks xmlns:a="http://schemas.openxmlformats.org/drawingml/2006/main" noGrp="1"/>
          </p:cNvSpPr>
          <p:nvPr/>
        </p:nvSpPr>
        <p:spPr>
          <a:xfrm xmlns:a="http://schemas.openxmlformats.org/drawingml/2006/main">
            <a:off x="6334125" y="2714625"/>
            <a:ext cx="5095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52B45"/>
                </a:solidFill>
                <a:latin typeface="Arial"/>
                <a:ea typeface="Arial"/>
                <a:cs typeface="Arial"/>
              </a:defRPr>
            </a:defPPr>
          </a:lstStyle>
          <a:p xmlns:a="http://schemas.openxmlformats.org/drawingml/2006/main">
            <a:pPr>
              <a:defRPr sz="2025" b="0">
                <a:solidFill>
                  <a:srgbClr val="152B45"/>
                </a:solidFill>
                <a:latin typeface="Arial"/>
                <a:ea typeface="Arial"/>
                <a:cs typeface="Arial"/>
              </a:defRPr>
            </a:pPr>
            <a:r>
              <a:rPr sz="2025" b="0">
                <a:solidFill>
                  <a:srgbClr val="152B45"/>
                </a:solidFill>
                <a:latin typeface="Arial"/>
                <a:ea typeface="Arial"/>
                <a:cs typeface="Arial"/>
              </a:rPr>
              <a:t>Freight and payment value are separate. GMV is neither Olist net revenue nor profit.</a:t>
            </a:r>
          </a:p>
        </p:txBody>
      </p:sp>
      <p:sp>
        <p:nvSpPr>
          <p:cNvPr id="9" name="">
            <a:extLst xmlns:a="http://schemas.openxmlformats.org/drawingml/2006/main">
              <a:ext uri="{FF2B5EF4-FFF2-40B4-BE49-F238E27FC236}">
                <a16:creationId xmlns:a16="http://schemas.microsoft.com/office/drawing/2014/main" id="{11177607-6ECA-481A-97F7-820D4C243701}"/>
              </a:ext>
            </a:extLst>
          </p:cNvPr>
          <p:cNvSpPr>
            <a:spLocks xmlns:a="http://schemas.openxmlformats.org/drawingml/2006/main" noGrp="1"/>
          </p:cNvSpPr>
          <p:nvPr/>
        </p:nvSpPr>
        <p:spPr>
          <a:xfrm xmlns:a="http://schemas.openxmlformats.org/drawingml/2006/main">
            <a:off x="6334125" y="4038600"/>
            <a:ext cx="5095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52B45"/>
                </a:solidFill>
                <a:latin typeface="Arial"/>
                <a:ea typeface="Arial"/>
                <a:cs typeface="Arial"/>
              </a:defRPr>
            </a:defPPr>
          </a:lstStyle>
          <a:p xmlns:a="http://schemas.openxmlformats.org/drawingml/2006/main">
            <a:pPr>
              <a:defRPr sz="2250" b="1">
                <a:solidFill>
                  <a:srgbClr val="152B45"/>
                </a:solidFill>
                <a:latin typeface="Arial"/>
                <a:ea typeface="Arial"/>
                <a:cs typeface="Arial"/>
              </a:defRPr>
            </a:pPr>
            <a:r>
              <a:rPr sz="2250" b="1">
                <a:solidFill>
                  <a:srgbClr val="152B45"/>
                </a:solidFill>
                <a:latin typeface="Arial"/>
                <a:ea typeface="Arial"/>
                <a:cs typeface="Arial"/>
              </a:rPr>
              <a:t>Late = actual timestamp after estimate</a:t>
            </a:r>
          </a:p>
        </p:txBody>
      </p:sp>
      <p:sp>
        <p:nvSpPr>
          <p:cNvPr id="10" name="">
            <a:extLst xmlns:a="http://schemas.openxmlformats.org/drawingml/2006/main">
              <a:ext uri="{FF2B5EF4-FFF2-40B4-BE49-F238E27FC236}">
                <a16:creationId xmlns:a16="http://schemas.microsoft.com/office/drawing/2014/main" id="{62C8B7D7-4591-4693-B88B-5BD7097431A1}"/>
              </a:ext>
            </a:extLst>
          </p:cNvPr>
          <p:cNvSpPr>
            <a:spLocks xmlns:a="http://schemas.openxmlformats.org/drawingml/2006/main" noGrp="1"/>
          </p:cNvSpPr>
          <p:nvPr/>
        </p:nvSpPr>
        <p:spPr>
          <a:xfrm xmlns:a="http://schemas.openxmlformats.org/drawingml/2006/main">
            <a:off x="6334125" y="4991100"/>
            <a:ext cx="5095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52B45"/>
                </a:solidFill>
                <a:latin typeface="Arial"/>
                <a:ea typeface="Arial"/>
                <a:cs typeface="Arial"/>
              </a:defRPr>
            </a:defPPr>
          </a:lstStyle>
          <a:p xmlns:a="http://schemas.openxmlformats.org/drawingml/2006/main">
            <a:pPr>
              <a:defRPr sz="1875" b="0">
                <a:solidFill>
                  <a:srgbClr val="152B45"/>
                </a:solidFill>
                <a:latin typeface="Arial"/>
                <a:ea typeface="Arial"/>
                <a:cs typeface="Arial"/>
              </a:defRPr>
            </a:pPr>
            <a:r>
              <a:rPr sz="1875" b="0">
                <a:solidFill>
                  <a:srgbClr val="152B45"/>
                </a:solidFill>
                <a:latin typeface="Arial"/>
                <a:ea typeface="Arial"/>
                <a:cs typeface="Arial"/>
              </a:rPr>
              <a:t>96,470 eligible deliveries. Latest answered review per order. Missing outcomes stay missing.</a:t>
            </a:r>
          </a:p>
        </p:txBody>
      </p:sp>
    </p:spTree>
    <p:extLst>
      <p:ext uri="{BB962C8B-B14F-4D97-AF65-F5344CB8AC3E}">
        <p14:creationId xmlns:p14="http://schemas.microsoft.com/office/powerpoint/2010/main" val="159511979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F28464B-F5E5-4615-A9BA-0718579350E0}"/>
              </a:ext>
            </a:extLst>
          </p:cNvPr>
          <p:cNvSpPr>
            <a:spLocks xmlns:a="http://schemas.openxmlformats.org/drawingml/2006/main" noGrp="1"/>
          </p:cNvSpPr>
          <p:nvPr/>
        </p:nvSpPr>
        <p:spPr>
          <a:xfrm xmlns:a="http://schemas.openxmlformats.org/drawingml/2006/main">
            <a:off x="609600" y="428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52B45"/>
                </a:solidFill>
                <a:latin typeface="Arial"/>
                <a:ea typeface="Arial"/>
                <a:cs typeface="Arial"/>
              </a:defRPr>
            </a:defPPr>
          </a:lstStyle>
          <a:p xmlns:a="http://schemas.openxmlformats.org/drawingml/2006/main">
            <a:pPr>
              <a:defRPr sz="3225" b="1">
                <a:solidFill>
                  <a:srgbClr val="152B45"/>
                </a:solidFill>
                <a:latin typeface="Arial"/>
                <a:ea typeface="Arial"/>
                <a:cs typeface="Arial"/>
              </a:defRPr>
            </a:pPr>
            <a:r>
              <a:rPr sz="3225" b="1">
                <a:solidFill>
                  <a:srgbClr val="152B45"/>
                </a:solidFill>
                <a:latin typeface="Arial"/>
                <a:ea typeface="Arial"/>
                <a:cs typeface="Arial"/>
              </a:rPr>
              <a:t>Growth follows a much larger order base</a:t>
            </a:r>
          </a:p>
        </p:txBody>
      </p:sp>
      <p:sp>
        <p:nvSpPr>
          <p:cNvPr id="2" name="">
            <a:extLst xmlns:a="http://schemas.openxmlformats.org/drawingml/2006/main">
              <a:ext uri="{FF2B5EF4-FFF2-40B4-BE49-F238E27FC236}">
                <a16:creationId xmlns:a16="http://schemas.microsoft.com/office/drawing/2014/main" id="{6BEBFCAC-E000-42AD-9268-71277DCD596F}"/>
              </a:ext>
            </a:extLst>
          </p:cNvPr>
          <p:cNvSpPr>
            <a:spLocks xmlns:a="http://schemas.openxmlformats.org/drawingml/2006/main" noGrp="1"/>
          </p:cNvSpPr>
          <p:nvPr/>
        </p:nvSpPr>
        <p:spPr>
          <a:xfrm xmlns:a="http://schemas.openxmlformats.org/drawingml/2006/main">
            <a:off x="10763250" y="6438900"/>
            <a:ext cx="819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4667A"/>
                </a:solidFill>
                <a:latin typeface="Arial"/>
                <a:ea typeface="Arial"/>
                <a:cs typeface="Arial"/>
              </a:defRPr>
            </a:defPPr>
          </a:lstStyle>
          <a:p xmlns:a="http://schemas.openxmlformats.org/drawingml/2006/main">
            <a:pPr>
              <a:defRPr sz="1050" b="0">
                <a:solidFill>
                  <a:srgbClr val="54667A"/>
                </a:solidFill>
                <a:latin typeface="Arial"/>
                <a:ea typeface="Arial"/>
                <a:cs typeface="Arial"/>
              </a:defRPr>
            </a:pPr>
            <a:r>
              <a:rPr sz="1050" b="0">
                <a:solidFill>
                  <a:srgbClr val="54667A"/>
                </a:solidFill>
                <a:latin typeface="Arial"/>
                <a:ea typeface="Arial"/>
                <a:cs typeface="Arial"/>
              </a:rPr>
              <a:t>3 / 10</a:t>
            </a:r>
          </a:p>
        </p:txBody>
      </p:sp>
      <p:sp>
        <p:nvSpPr>
          <p:cNvPr id="3" name="">
            <a:extLst xmlns:a="http://schemas.openxmlformats.org/drawingml/2006/main">
              <a:ext uri="{FF2B5EF4-FFF2-40B4-BE49-F238E27FC236}">
                <a16:creationId xmlns:a16="http://schemas.microsoft.com/office/drawing/2014/main" id="{C6E110A1-D323-4891-AA58-A6B4A4C967EE}"/>
              </a:ext>
            </a:extLst>
          </p:cNvPr>
          <p:cNvSpPr>
            <a:spLocks xmlns:a="http://schemas.openxmlformats.org/drawingml/2006/main" noGrp="1"/>
          </p:cNvSpPr>
          <p:nvPr/>
        </p:nvSpPr>
        <p:spPr>
          <a:xfrm xmlns:a="http://schemas.openxmlformats.org/drawingml/2006/main">
            <a:off x="609600" y="1495425"/>
            <a:ext cx="381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245ECB"/>
                </a:solidFill>
                <a:latin typeface="Arial"/>
                <a:ea typeface="Arial"/>
                <a:cs typeface="Arial"/>
              </a:defRPr>
            </a:defPPr>
          </a:lstStyle>
          <a:p xmlns:a="http://schemas.openxmlformats.org/drawingml/2006/main">
            <a:pPr>
              <a:defRPr sz="4350" b="1">
                <a:solidFill>
                  <a:srgbClr val="245ECB"/>
                </a:solidFill>
                <a:latin typeface="Arial"/>
                <a:ea typeface="Arial"/>
                <a:cs typeface="Arial"/>
              </a:defRPr>
            </a:pPr>
            <a:r>
              <a:rPr sz="4350" b="1">
                <a:solidFill>
                  <a:srgbClr val="245ECB"/>
                </a:solidFill>
                <a:latin typeface="Arial"/>
                <a:ea typeface="Arial"/>
                <a:cs typeface="Arial"/>
              </a:rPr>
              <a:t>R$ 13.22m</a:t>
            </a:r>
          </a:p>
        </p:txBody>
      </p:sp>
      <p:sp>
        <p:nvSpPr>
          <p:cNvPr id="4" name="">
            <a:extLst xmlns:a="http://schemas.openxmlformats.org/drawingml/2006/main">
              <a:ext uri="{FF2B5EF4-FFF2-40B4-BE49-F238E27FC236}">
                <a16:creationId xmlns:a16="http://schemas.microsoft.com/office/drawing/2014/main" id="{0B333B10-3F7C-4E3F-A51A-19B0F1C46D16}"/>
              </a:ext>
            </a:extLst>
          </p:cNvPr>
          <p:cNvSpPr>
            <a:spLocks xmlns:a="http://schemas.openxmlformats.org/drawingml/2006/main" noGrp="1"/>
          </p:cNvSpPr>
          <p:nvPr/>
        </p:nvSpPr>
        <p:spPr>
          <a:xfrm xmlns:a="http://schemas.openxmlformats.org/drawingml/2006/main">
            <a:off x="609600" y="2257425"/>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4667A"/>
                </a:solidFill>
                <a:latin typeface="Arial"/>
                <a:ea typeface="Arial"/>
                <a:cs typeface="Arial"/>
              </a:defRPr>
            </a:defPPr>
          </a:lstStyle>
          <a:p xmlns:a="http://schemas.openxmlformats.org/drawingml/2006/main">
            <a:pPr>
              <a:defRPr sz="1425" b="0">
                <a:solidFill>
                  <a:srgbClr val="54667A"/>
                </a:solidFill>
                <a:latin typeface="Arial"/>
                <a:ea typeface="Arial"/>
                <a:cs typeface="Arial"/>
              </a:defRPr>
            </a:pPr>
            <a:r>
              <a:rPr sz="1425" b="0">
                <a:solidFill>
                  <a:srgbClr val="54667A"/>
                </a:solidFill>
                <a:latin typeface="Arial"/>
                <a:ea typeface="Arial"/>
                <a:cs typeface="Arial"/>
              </a:rPr>
              <a:t>Delivered merchandise GMV</a:t>
            </a:r>
          </a:p>
        </p:txBody>
      </p:sp>
      <p:sp>
        <p:nvSpPr>
          <p:cNvPr id="5" name="">
            <a:extLst xmlns:a="http://schemas.openxmlformats.org/drawingml/2006/main">
              <a:ext uri="{FF2B5EF4-FFF2-40B4-BE49-F238E27FC236}">
                <a16:creationId xmlns:a16="http://schemas.microsoft.com/office/drawing/2014/main" id="{2D43A67A-3094-4C57-B657-8D42E8E7B1B3}"/>
              </a:ext>
            </a:extLst>
          </p:cNvPr>
          <p:cNvSpPr>
            <a:spLocks xmlns:a="http://schemas.openxmlformats.org/drawingml/2006/main" noGrp="1"/>
          </p:cNvSpPr>
          <p:nvPr/>
        </p:nvSpPr>
        <p:spPr>
          <a:xfrm xmlns:a="http://schemas.openxmlformats.org/drawingml/2006/main">
            <a:off x="4695825" y="1495425"/>
            <a:ext cx="314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245ECB"/>
                </a:solidFill>
                <a:latin typeface="Arial"/>
                <a:ea typeface="Arial"/>
                <a:cs typeface="Arial"/>
              </a:defRPr>
            </a:defPPr>
          </a:lstStyle>
          <a:p xmlns:a="http://schemas.openxmlformats.org/drawingml/2006/main">
            <a:pPr>
              <a:defRPr sz="4350" b="1">
                <a:solidFill>
                  <a:srgbClr val="245ECB"/>
                </a:solidFill>
                <a:latin typeface="Arial"/>
                <a:ea typeface="Arial"/>
                <a:cs typeface="Arial"/>
              </a:defRPr>
            </a:pPr>
            <a:r>
              <a:rPr sz="4350" b="1">
                <a:solidFill>
                  <a:srgbClr val="245ECB"/>
                </a:solidFill>
                <a:latin typeface="Arial"/>
                <a:ea typeface="Arial"/>
                <a:cs typeface="Arial"/>
              </a:rPr>
              <a:t>96,478</a:t>
            </a:r>
          </a:p>
        </p:txBody>
      </p:sp>
      <p:sp>
        <p:nvSpPr>
          <p:cNvPr id="6" name="">
            <a:extLst xmlns:a="http://schemas.openxmlformats.org/drawingml/2006/main">
              <a:ext uri="{FF2B5EF4-FFF2-40B4-BE49-F238E27FC236}">
                <a16:creationId xmlns:a16="http://schemas.microsoft.com/office/drawing/2014/main" id="{DE2DA685-CDEC-4F07-9C2D-5022B193FF5E}"/>
              </a:ext>
            </a:extLst>
          </p:cNvPr>
          <p:cNvSpPr>
            <a:spLocks xmlns:a="http://schemas.openxmlformats.org/drawingml/2006/main" noGrp="1"/>
          </p:cNvSpPr>
          <p:nvPr/>
        </p:nvSpPr>
        <p:spPr>
          <a:xfrm xmlns:a="http://schemas.openxmlformats.org/drawingml/2006/main">
            <a:off x="4695825" y="2257425"/>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4667A"/>
                </a:solidFill>
                <a:latin typeface="Arial"/>
                <a:ea typeface="Arial"/>
                <a:cs typeface="Arial"/>
              </a:defRPr>
            </a:defPPr>
          </a:lstStyle>
          <a:p xmlns:a="http://schemas.openxmlformats.org/drawingml/2006/main">
            <a:pPr>
              <a:defRPr sz="1425" b="0">
                <a:solidFill>
                  <a:srgbClr val="54667A"/>
                </a:solidFill>
                <a:latin typeface="Arial"/>
                <a:ea typeface="Arial"/>
                <a:cs typeface="Arial"/>
              </a:defRPr>
            </a:pPr>
            <a:r>
              <a:rPr sz="1425" b="0">
                <a:solidFill>
                  <a:srgbClr val="54667A"/>
                </a:solidFill>
                <a:latin typeface="Arial"/>
                <a:ea typeface="Arial"/>
                <a:cs typeface="Arial"/>
              </a:rPr>
              <a:t>Delivered orders</a:t>
            </a:r>
          </a:p>
        </p:txBody>
      </p:sp>
      <p:sp>
        <p:nvSpPr>
          <p:cNvPr id="7" name="">
            <a:extLst xmlns:a="http://schemas.openxmlformats.org/drawingml/2006/main">
              <a:ext uri="{FF2B5EF4-FFF2-40B4-BE49-F238E27FC236}">
                <a16:creationId xmlns:a16="http://schemas.microsoft.com/office/drawing/2014/main" id="{2294A43F-96DB-45FD-96A5-1765BC8A2465}"/>
              </a:ext>
            </a:extLst>
          </p:cNvPr>
          <p:cNvSpPr>
            <a:spLocks xmlns:a="http://schemas.openxmlformats.org/drawingml/2006/main" noGrp="1"/>
          </p:cNvSpPr>
          <p:nvPr/>
        </p:nvSpPr>
        <p:spPr>
          <a:xfrm xmlns:a="http://schemas.openxmlformats.org/drawingml/2006/main">
            <a:off x="8667750" y="1495425"/>
            <a:ext cx="2905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245ECB"/>
                </a:solidFill>
                <a:latin typeface="Arial"/>
                <a:ea typeface="Arial"/>
                <a:cs typeface="Arial"/>
              </a:defRPr>
            </a:defPPr>
          </a:lstStyle>
          <a:p xmlns:a="http://schemas.openxmlformats.org/drawingml/2006/main">
            <a:pPr>
              <a:defRPr sz="4350" b="1">
                <a:solidFill>
                  <a:srgbClr val="245ECB"/>
                </a:solidFill>
                <a:latin typeface="Arial"/>
                <a:ea typeface="Arial"/>
                <a:cs typeface="Arial"/>
              </a:defRPr>
            </a:pPr>
            <a:r>
              <a:rPr sz="4350" b="1">
                <a:solidFill>
                  <a:srgbClr val="245ECB"/>
                </a:solidFill>
                <a:latin typeface="Arial"/>
                <a:ea typeface="Arial"/>
                <a:cs typeface="Arial"/>
              </a:rPr>
              <a:t>R$ 137</a:t>
            </a:r>
          </a:p>
        </p:txBody>
      </p:sp>
      <p:sp>
        <p:nvSpPr>
          <p:cNvPr id="8" name="">
            <a:extLst xmlns:a="http://schemas.openxmlformats.org/drawingml/2006/main">
              <a:ext uri="{FF2B5EF4-FFF2-40B4-BE49-F238E27FC236}">
                <a16:creationId xmlns:a16="http://schemas.microsoft.com/office/drawing/2014/main" id="{A2736C52-DEB6-4716-9C4F-83FFD2A8E75A}"/>
              </a:ext>
            </a:extLst>
          </p:cNvPr>
          <p:cNvSpPr>
            <a:spLocks xmlns:a="http://schemas.openxmlformats.org/drawingml/2006/main" noGrp="1"/>
          </p:cNvSpPr>
          <p:nvPr/>
        </p:nvSpPr>
        <p:spPr>
          <a:xfrm xmlns:a="http://schemas.openxmlformats.org/drawingml/2006/main">
            <a:off x="8667750" y="2257425"/>
            <a:ext cx="2905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4667A"/>
                </a:solidFill>
                <a:latin typeface="Arial"/>
                <a:ea typeface="Arial"/>
                <a:cs typeface="Arial"/>
              </a:defRPr>
            </a:defPPr>
          </a:lstStyle>
          <a:p xmlns:a="http://schemas.openxmlformats.org/drawingml/2006/main">
            <a:pPr>
              <a:defRPr sz="1425" b="0">
                <a:solidFill>
                  <a:srgbClr val="54667A"/>
                </a:solidFill>
                <a:latin typeface="Arial"/>
                <a:ea typeface="Arial"/>
                <a:cs typeface="Arial"/>
              </a:defRPr>
            </a:pPr>
            <a:r>
              <a:rPr sz="1425" b="0">
                <a:solidFill>
                  <a:srgbClr val="54667A"/>
                </a:solidFill>
                <a:latin typeface="Arial"/>
                <a:ea typeface="Arial"/>
                <a:cs typeface="Arial"/>
              </a:rPr>
              <a:t>Average order value</a:t>
            </a:r>
          </a:p>
        </p:txBody>
      </p:sp>
      <p:graphicFrame>
        <p:nvGraphicFramePr>
          <p:cNvPr id="9" name="Chart">
            <a:extLst xmlns:a="http://schemas.openxmlformats.org/drawingml/2006/main">
              <a:ext uri="{FF2B5EF4-FFF2-40B4-BE49-F238E27FC236}">
                <a16:creationId xmlns:a16="http://schemas.microsoft.com/office/drawing/2014/main" id="{EA8E098E-A718-4A80-9BD3-7758AE586103}"/>
              </a:ext>
            </a:extLst>
          </p:cNvPr>
          <p:cNvGraphicFramePr/>
          <p:nvPr/>
        </p:nvGraphicFramePr>
        <p:xfrm>
          <a:off xmlns:a="http://schemas.openxmlformats.org/drawingml/2006/main" x="609600" y="2857500"/>
          <a:ext xmlns:a="http://schemas.openxmlformats.org/drawingml/2006/main" cx="10972800" cy="2647950"/>
        </p:xfrm>
        <a:graphic xmlns:a="http://schemas.openxmlformats.org/drawingml/2006/main">
          <a:graphicData uri="http://schemas.openxmlformats.org/drawingml/2006/chart">
            <c:chart xmlns:r="http://schemas.openxmlformats.org/officeDocument/2006/relationships" xmlns:c="http://schemas.openxmlformats.org/drawingml/2006/chart" r:id="Rc2ba970024654dd5"/>
          </a:graphicData>
        </a:graphic>
      </p:graphicFrame>
      <p:sp>
        <p:nvSpPr>
          <p:cNvPr id="10" name="">
            <a:extLst xmlns:a="http://schemas.openxmlformats.org/drawingml/2006/main">
              <a:ext uri="{FF2B5EF4-FFF2-40B4-BE49-F238E27FC236}">
                <a16:creationId xmlns:a16="http://schemas.microsoft.com/office/drawing/2014/main" id="{11D0BFF1-2D39-4AAA-8435-20D6321B6EFA}"/>
              </a:ext>
            </a:extLst>
          </p:cNvPr>
          <p:cNvSpPr>
            <a:spLocks xmlns:a="http://schemas.openxmlformats.org/drawingml/2006/main" noGrp="1"/>
          </p:cNvSpPr>
          <p:nvPr/>
        </p:nvSpPr>
        <p:spPr>
          <a:xfrm xmlns:a="http://schemas.openxmlformats.org/drawingml/2006/main">
            <a:off x="609600" y="5762625"/>
            <a:ext cx="10858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007D7C"/>
                </a:solidFill>
                <a:latin typeface="Arial"/>
                <a:ea typeface="Arial"/>
                <a:cs typeface="Arial"/>
              </a:defRPr>
            </a:defPPr>
          </a:lstStyle>
          <a:p xmlns:a="http://schemas.openxmlformats.org/drawingml/2006/main">
            <a:pPr>
              <a:defRPr sz="1875" b="1">
                <a:solidFill>
                  <a:srgbClr val="007D7C"/>
                </a:solidFill>
                <a:latin typeface="Arial"/>
                <a:ea typeface="Arial"/>
                <a:cs typeface="Arial"/>
              </a:defRPr>
            </a:pPr>
            <a:r>
              <a:rPr sz="1875" b="1">
                <a:solidFill>
                  <a:srgbClr val="007D7C"/>
                </a:solidFill>
                <a:latin typeface="Arial"/>
                <a:ea typeface="Arial"/>
                <a:cs typeface="Arial"/>
              </a:rPr>
              <a:t>Jan-Jul GMV grew 161.6%. Orders grew 160.8%.</a:t>
            </a:r>
          </a:p>
        </p:txBody>
      </p:sp>
      <p:sp>
        <p:nvSpPr>
          <p:cNvPr id="11" name="">
            <a:extLst xmlns:a="http://schemas.openxmlformats.org/drawingml/2006/main">
              <a:ext uri="{FF2B5EF4-FFF2-40B4-BE49-F238E27FC236}">
                <a16:creationId xmlns:a16="http://schemas.microsoft.com/office/drawing/2014/main" id="{D31A949B-B0F2-40DE-ABE5-3DE4A531E76B}"/>
              </a:ext>
            </a:extLst>
          </p:cNvPr>
          <p:cNvSpPr>
            <a:spLocks xmlns:a="http://schemas.openxmlformats.org/drawingml/2006/main" noGrp="1"/>
          </p:cNvSpPr>
          <p:nvPr/>
        </p:nvSpPr>
        <p:spPr>
          <a:xfrm xmlns:a="http://schemas.openxmlformats.org/drawingml/2006/main">
            <a:off x="609600" y="61912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4667A"/>
                </a:solidFill>
                <a:latin typeface="Arial"/>
                <a:ea typeface="Arial"/>
                <a:cs typeface="Arial"/>
              </a:defRPr>
            </a:defPPr>
          </a:lstStyle>
          <a:p xmlns:a="http://schemas.openxmlformats.org/drawingml/2006/main">
            <a:pPr>
              <a:defRPr sz="1425" b="0">
                <a:solidFill>
                  <a:srgbClr val="54667A"/>
                </a:solidFill>
                <a:latin typeface="Arial"/>
                <a:ea typeface="Arial"/>
                <a:cs typeface="Arial"/>
              </a:defRPr>
            </a:pPr>
            <a:r>
              <a:rPr sz="1425" b="0">
                <a:solidFill>
                  <a:srgbClr val="54667A"/>
                </a:solidFill>
                <a:latin typeface="Arial"/>
                <a:ea typeface="Arial"/>
                <a:cs typeface="Arial"/>
              </a:rPr>
              <a:t>August is incomplete. Compare matched windows rather than the final-month drop.</a:t>
            </a:r>
          </a:p>
        </p:txBody>
      </p:sp>
    </p:spTree>
    <p:extLst>
      <p:ext uri="{BB962C8B-B14F-4D97-AF65-F5344CB8AC3E}">
        <p14:creationId xmlns:p14="http://schemas.microsoft.com/office/powerpoint/2010/main" val="156296076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A55FC66-312D-4590-A8EB-9C45ACF88630}"/>
              </a:ext>
            </a:extLst>
          </p:cNvPr>
          <p:cNvSpPr>
            <a:spLocks xmlns:a="http://schemas.openxmlformats.org/drawingml/2006/main" noGrp="1"/>
          </p:cNvSpPr>
          <p:nvPr/>
        </p:nvSpPr>
        <p:spPr>
          <a:xfrm xmlns:a="http://schemas.openxmlformats.org/drawingml/2006/main">
            <a:off x="609600" y="428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52B45"/>
                </a:solidFill>
                <a:latin typeface="Arial"/>
                <a:ea typeface="Arial"/>
                <a:cs typeface="Arial"/>
              </a:defRPr>
            </a:defPPr>
          </a:lstStyle>
          <a:p xmlns:a="http://schemas.openxmlformats.org/drawingml/2006/main">
            <a:pPr>
              <a:defRPr sz="3225" b="1">
                <a:solidFill>
                  <a:srgbClr val="152B45"/>
                </a:solidFill>
                <a:latin typeface="Arial"/>
                <a:ea typeface="Arial"/>
                <a:cs typeface="Arial"/>
              </a:defRPr>
            </a:pPr>
            <a:r>
              <a:rPr sz="3225" b="1">
                <a:solidFill>
                  <a:srgbClr val="152B45"/>
                </a:solidFill>
                <a:latin typeface="Arial"/>
                <a:ea typeface="Arial"/>
                <a:cs typeface="Arial"/>
              </a:rPr>
              <a:t>Value concentrates in a few categories and states</a:t>
            </a:r>
          </a:p>
        </p:txBody>
      </p:sp>
      <p:sp>
        <p:nvSpPr>
          <p:cNvPr id="2" name="">
            <a:extLst xmlns:a="http://schemas.openxmlformats.org/drawingml/2006/main">
              <a:ext uri="{FF2B5EF4-FFF2-40B4-BE49-F238E27FC236}">
                <a16:creationId xmlns:a16="http://schemas.microsoft.com/office/drawing/2014/main" id="{C3C99E10-78CD-44B8-B49B-03280C93FE7E}"/>
              </a:ext>
            </a:extLst>
          </p:cNvPr>
          <p:cNvSpPr>
            <a:spLocks xmlns:a="http://schemas.openxmlformats.org/drawingml/2006/main" noGrp="1"/>
          </p:cNvSpPr>
          <p:nvPr/>
        </p:nvSpPr>
        <p:spPr>
          <a:xfrm xmlns:a="http://schemas.openxmlformats.org/drawingml/2006/main">
            <a:off x="10763250" y="6438900"/>
            <a:ext cx="819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4667A"/>
                </a:solidFill>
                <a:latin typeface="Arial"/>
                <a:ea typeface="Arial"/>
                <a:cs typeface="Arial"/>
              </a:defRPr>
            </a:defPPr>
          </a:lstStyle>
          <a:p xmlns:a="http://schemas.openxmlformats.org/drawingml/2006/main">
            <a:pPr>
              <a:defRPr sz="1050" b="0">
                <a:solidFill>
                  <a:srgbClr val="54667A"/>
                </a:solidFill>
                <a:latin typeface="Arial"/>
                <a:ea typeface="Arial"/>
                <a:cs typeface="Arial"/>
              </a:defRPr>
            </a:pPr>
            <a:r>
              <a:rPr sz="1050" b="0">
                <a:solidFill>
                  <a:srgbClr val="54667A"/>
                </a:solidFill>
                <a:latin typeface="Arial"/>
                <a:ea typeface="Arial"/>
                <a:cs typeface="Arial"/>
              </a:rPr>
              <a:t>4 / 10</a:t>
            </a:r>
          </a:p>
        </p:txBody>
      </p:sp>
      <p:sp>
        <p:nvSpPr>
          <p:cNvPr id="3" name="">
            <a:extLst xmlns:a="http://schemas.openxmlformats.org/drawingml/2006/main">
              <a:ext uri="{FF2B5EF4-FFF2-40B4-BE49-F238E27FC236}">
                <a16:creationId xmlns:a16="http://schemas.microsoft.com/office/drawing/2014/main" id="{E6EC111F-4121-4041-866A-CEA56E2ED5B5}"/>
              </a:ext>
            </a:extLst>
          </p:cNvPr>
          <p:cNvSpPr>
            <a:spLocks xmlns:a="http://schemas.openxmlformats.org/drawingml/2006/main" noGrp="1"/>
          </p:cNvSpPr>
          <p:nvPr/>
        </p:nvSpPr>
        <p:spPr>
          <a:xfrm xmlns:a="http://schemas.openxmlformats.org/drawingml/2006/main">
            <a:off x="609600" y="158115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4667A"/>
                </a:solidFill>
                <a:latin typeface="Arial"/>
                <a:ea typeface="Arial"/>
                <a:cs typeface="Arial"/>
              </a:defRPr>
            </a:defPPr>
          </a:lstStyle>
          <a:p xmlns:a="http://schemas.openxmlformats.org/drawingml/2006/main">
            <a:pPr>
              <a:defRPr sz="1425" b="0">
                <a:solidFill>
                  <a:srgbClr val="54667A"/>
                </a:solidFill>
                <a:latin typeface="Arial"/>
                <a:ea typeface="Arial"/>
                <a:cs typeface="Arial"/>
              </a:defRPr>
            </a:pPr>
            <a:r>
              <a:rPr sz="1425" b="0">
                <a:solidFill>
                  <a:srgbClr val="54667A"/>
                </a:solidFill>
                <a:latin typeface="Arial"/>
                <a:ea typeface="Arial"/>
                <a:cs typeface="Arial"/>
              </a:rPr>
              <a:t>Five leading categories</a:t>
            </a:r>
          </a:p>
        </p:txBody>
      </p:sp>
      <p:sp>
        <p:nvSpPr>
          <p:cNvPr id="4" name="">
            <a:extLst xmlns:a="http://schemas.openxmlformats.org/drawingml/2006/main">
              <a:ext uri="{FF2B5EF4-FFF2-40B4-BE49-F238E27FC236}">
                <a16:creationId xmlns:a16="http://schemas.microsoft.com/office/drawing/2014/main" id="{D21B0A76-95BE-4F5A-9E22-2DB84287A60F}"/>
              </a:ext>
            </a:extLst>
          </p:cNvPr>
          <p:cNvSpPr>
            <a:spLocks xmlns:a="http://schemas.openxmlformats.org/drawingml/2006/main" noGrp="1"/>
          </p:cNvSpPr>
          <p:nvPr/>
        </p:nvSpPr>
        <p:spPr>
          <a:xfrm xmlns:a="http://schemas.openxmlformats.org/drawingml/2006/main">
            <a:off x="6724650" y="1581150"/>
            <a:ext cx="4810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4667A"/>
                </a:solidFill>
                <a:latin typeface="Arial"/>
                <a:ea typeface="Arial"/>
                <a:cs typeface="Arial"/>
              </a:defRPr>
            </a:defPPr>
          </a:lstStyle>
          <a:p xmlns:a="http://schemas.openxmlformats.org/drawingml/2006/main">
            <a:pPr>
              <a:defRPr sz="1425" b="0">
                <a:solidFill>
                  <a:srgbClr val="54667A"/>
                </a:solidFill>
                <a:latin typeface="Arial"/>
                <a:ea typeface="Arial"/>
                <a:cs typeface="Arial"/>
              </a:defRPr>
            </a:pPr>
            <a:r>
              <a:rPr sz="1425" b="0">
                <a:solidFill>
                  <a:srgbClr val="54667A"/>
                </a:solidFill>
                <a:latin typeface="Arial"/>
                <a:ea typeface="Arial"/>
                <a:cs typeface="Arial"/>
              </a:rPr>
              <a:t>Five leading customer states</a:t>
            </a:r>
          </a:p>
        </p:txBody>
      </p:sp>
      <p:graphicFrame>
        <p:nvGraphicFramePr>
          <p:cNvPr id="5" name="Chart">
            <a:extLst xmlns:a="http://schemas.openxmlformats.org/drawingml/2006/main">
              <a:ext uri="{FF2B5EF4-FFF2-40B4-BE49-F238E27FC236}">
                <a16:creationId xmlns:a16="http://schemas.microsoft.com/office/drawing/2014/main" id="{3A29F92D-B335-44C8-A652-67460DD542F4}"/>
              </a:ext>
            </a:extLst>
          </p:cNvPr>
          <p:cNvGraphicFramePr/>
          <p:nvPr/>
        </p:nvGraphicFramePr>
        <p:xfrm>
          <a:off xmlns:a="http://schemas.openxmlformats.org/drawingml/2006/main" x="609600" y="2038350"/>
          <a:ext xmlns:a="http://schemas.openxmlformats.org/drawingml/2006/main" cx="5429250" cy="3286125"/>
        </p:xfrm>
        <a:graphic xmlns:a="http://schemas.openxmlformats.org/drawingml/2006/main">
          <a:graphicData uri="http://schemas.openxmlformats.org/drawingml/2006/chart">
            <c:chart xmlns:r="http://schemas.openxmlformats.org/officeDocument/2006/relationships" xmlns:c="http://schemas.openxmlformats.org/drawingml/2006/chart" r:id="Ra15737dcc1394674"/>
          </a:graphicData>
        </a:graphic>
      </p:graphicFrame>
      <p:graphicFrame>
        <p:nvGraphicFramePr>
          <p:cNvPr id="6" name="Chart">
            <a:extLst xmlns:a="http://schemas.openxmlformats.org/drawingml/2006/main">
              <a:ext uri="{FF2B5EF4-FFF2-40B4-BE49-F238E27FC236}">
                <a16:creationId xmlns:a16="http://schemas.microsoft.com/office/drawing/2014/main" id="{9E8E3ADB-8CE8-4455-8F9F-8F07C6A1AF38}"/>
              </a:ext>
            </a:extLst>
          </p:cNvPr>
          <p:cNvGraphicFramePr/>
          <p:nvPr/>
        </p:nvGraphicFramePr>
        <p:xfrm>
          <a:off xmlns:a="http://schemas.openxmlformats.org/drawingml/2006/main" x="6724650" y="2038350"/>
          <a:ext xmlns:a="http://schemas.openxmlformats.org/drawingml/2006/main" cx="4810125" cy="3286125"/>
        </p:xfrm>
        <a:graphic xmlns:a="http://schemas.openxmlformats.org/drawingml/2006/main">
          <a:graphicData uri="http://schemas.openxmlformats.org/drawingml/2006/chart">
            <c:chart xmlns:r="http://schemas.openxmlformats.org/officeDocument/2006/relationships" xmlns:c="http://schemas.openxmlformats.org/drawingml/2006/chart" r:id="R06d0c65a2dd94c63"/>
          </a:graphicData>
        </a:graphic>
      </p:graphicFrame>
      <p:sp>
        <p:nvSpPr>
          <p:cNvPr id="7" name="">
            <a:extLst xmlns:a="http://schemas.openxmlformats.org/drawingml/2006/main">
              <a:ext uri="{FF2B5EF4-FFF2-40B4-BE49-F238E27FC236}">
                <a16:creationId xmlns:a16="http://schemas.microsoft.com/office/drawing/2014/main" id="{38A4D9FA-01DA-4406-836E-1354B13ADBC6}"/>
              </a:ext>
            </a:extLst>
          </p:cNvPr>
          <p:cNvSpPr>
            <a:spLocks xmlns:a="http://schemas.openxmlformats.org/drawingml/2006/main" noGrp="1"/>
          </p:cNvSpPr>
          <p:nvPr/>
        </p:nvSpPr>
        <p:spPr>
          <a:xfrm xmlns:a="http://schemas.openxmlformats.org/drawingml/2006/main">
            <a:off x="609600" y="5762625"/>
            <a:ext cx="10858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007D7C"/>
                </a:solidFill>
                <a:latin typeface="Arial"/>
                <a:ea typeface="Arial"/>
                <a:cs typeface="Arial"/>
              </a:defRPr>
            </a:defPPr>
          </a:lstStyle>
          <a:p xmlns:a="http://schemas.openxmlformats.org/drawingml/2006/main">
            <a:pPr>
              <a:defRPr sz="1875" b="1">
                <a:solidFill>
                  <a:srgbClr val="007D7C"/>
                </a:solidFill>
                <a:latin typeface="Arial"/>
                <a:ea typeface="Arial"/>
                <a:cs typeface="Arial"/>
              </a:defRPr>
            </a:pPr>
            <a:r>
              <a:rPr sz="1875" b="1">
                <a:solidFill>
                  <a:srgbClr val="007D7C"/>
                </a:solidFill>
                <a:latin typeface="Arial"/>
                <a:ea typeface="Arial"/>
                <a:cs typeface="Arial"/>
              </a:rPr>
              <a:t>Top five categories: 39.8% of GMV. SP + RJ + MG: 63.4%.</a:t>
            </a:r>
          </a:p>
        </p:txBody>
      </p:sp>
    </p:spTree>
    <p:extLst>
      <p:ext uri="{BB962C8B-B14F-4D97-AF65-F5344CB8AC3E}">
        <p14:creationId xmlns:p14="http://schemas.microsoft.com/office/powerpoint/2010/main" val="45041899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E5E3BC1-E4EA-43BC-8B98-4A08687E48A2}"/>
              </a:ext>
            </a:extLst>
          </p:cNvPr>
          <p:cNvSpPr>
            <a:spLocks xmlns:a="http://schemas.openxmlformats.org/drawingml/2006/main" noGrp="1"/>
          </p:cNvSpPr>
          <p:nvPr/>
        </p:nvSpPr>
        <p:spPr>
          <a:xfrm xmlns:a="http://schemas.openxmlformats.org/drawingml/2006/main">
            <a:off x="609600" y="428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52B45"/>
                </a:solidFill>
                <a:latin typeface="Arial"/>
                <a:ea typeface="Arial"/>
                <a:cs typeface="Arial"/>
              </a:defRPr>
            </a:defPPr>
          </a:lstStyle>
          <a:p xmlns:a="http://schemas.openxmlformats.org/drawingml/2006/main">
            <a:pPr>
              <a:defRPr sz="3225" b="1">
                <a:solidFill>
                  <a:srgbClr val="152B45"/>
                </a:solidFill>
                <a:latin typeface="Arial"/>
                <a:ea typeface="Arial"/>
                <a:cs typeface="Arial"/>
              </a:defRPr>
            </a:pPr>
            <a:r>
              <a:rPr sz="3225" b="1">
                <a:solidFill>
                  <a:srgbClr val="152B45"/>
                </a:solidFill>
                <a:latin typeface="Arial"/>
                <a:ea typeface="Arial"/>
                <a:cs typeface="Arial"/>
              </a:rPr>
              <a:t>Second purchases are a measurable growth test</a:t>
            </a:r>
          </a:p>
        </p:txBody>
      </p:sp>
      <p:sp>
        <p:nvSpPr>
          <p:cNvPr id="2" name="">
            <a:extLst xmlns:a="http://schemas.openxmlformats.org/drawingml/2006/main">
              <a:ext uri="{FF2B5EF4-FFF2-40B4-BE49-F238E27FC236}">
                <a16:creationId xmlns:a16="http://schemas.microsoft.com/office/drawing/2014/main" id="{1FC16FE0-8960-4707-9FF7-1180A6CA9992}"/>
              </a:ext>
            </a:extLst>
          </p:cNvPr>
          <p:cNvSpPr>
            <a:spLocks xmlns:a="http://schemas.openxmlformats.org/drawingml/2006/main" noGrp="1"/>
          </p:cNvSpPr>
          <p:nvPr/>
        </p:nvSpPr>
        <p:spPr>
          <a:xfrm xmlns:a="http://schemas.openxmlformats.org/drawingml/2006/main">
            <a:off x="10763250" y="6438900"/>
            <a:ext cx="819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4667A"/>
                </a:solidFill>
                <a:latin typeface="Arial"/>
                <a:ea typeface="Arial"/>
                <a:cs typeface="Arial"/>
              </a:defRPr>
            </a:defPPr>
          </a:lstStyle>
          <a:p xmlns:a="http://schemas.openxmlformats.org/drawingml/2006/main">
            <a:pPr>
              <a:defRPr sz="1050" b="0">
                <a:solidFill>
                  <a:srgbClr val="54667A"/>
                </a:solidFill>
                <a:latin typeface="Arial"/>
                <a:ea typeface="Arial"/>
                <a:cs typeface="Arial"/>
              </a:defRPr>
            </a:pPr>
            <a:r>
              <a:rPr sz="1050" b="0">
                <a:solidFill>
                  <a:srgbClr val="54667A"/>
                </a:solidFill>
                <a:latin typeface="Arial"/>
                <a:ea typeface="Arial"/>
                <a:cs typeface="Arial"/>
              </a:rPr>
              <a:t>5 / 10</a:t>
            </a:r>
          </a:p>
        </p:txBody>
      </p:sp>
      <p:sp>
        <p:nvSpPr>
          <p:cNvPr id="3" name="">
            <a:extLst xmlns:a="http://schemas.openxmlformats.org/drawingml/2006/main">
              <a:ext uri="{FF2B5EF4-FFF2-40B4-BE49-F238E27FC236}">
                <a16:creationId xmlns:a16="http://schemas.microsoft.com/office/drawing/2014/main" id="{88B2BD84-C65F-4E57-BE3B-2F789404AB63}"/>
              </a:ext>
            </a:extLst>
          </p:cNvPr>
          <p:cNvSpPr>
            <a:spLocks xmlns:a="http://schemas.openxmlformats.org/drawingml/2006/main" noGrp="1"/>
          </p:cNvSpPr>
          <p:nvPr/>
        </p:nvSpPr>
        <p:spPr>
          <a:xfrm xmlns:a="http://schemas.openxmlformats.org/drawingml/2006/main">
            <a:off x="609600" y="1666875"/>
            <a:ext cx="4286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250" b="1">
                <a:solidFill>
                  <a:srgbClr val="245ECB"/>
                </a:solidFill>
                <a:latin typeface="Arial"/>
                <a:ea typeface="Arial"/>
                <a:cs typeface="Arial"/>
              </a:defRPr>
            </a:defPPr>
          </a:lstStyle>
          <a:p xmlns:a="http://schemas.openxmlformats.org/drawingml/2006/main">
            <a:pPr>
              <a:defRPr sz="5250" b="1">
                <a:solidFill>
                  <a:srgbClr val="245ECB"/>
                </a:solidFill>
                <a:latin typeface="Arial"/>
                <a:ea typeface="Arial"/>
                <a:cs typeface="Arial"/>
              </a:defRPr>
            </a:pPr>
            <a:r>
              <a:rPr sz="5250" b="1">
                <a:solidFill>
                  <a:srgbClr val="245ECB"/>
                </a:solidFill>
                <a:latin typeface="Arial"/>
                <a:ea typeface="Arial"/>
                <a:cs typeface="Arial"/>
              </a:rPr>
              <a:t>3.0%</a:t>
            </a:r>
          </a:p>
        </p:txBody>
      </p:sp>
      <p:sp>
        <p:nvSpPr>
          <p:cNvPr id="4" name="">
            <a:extLst xmlns:a="http://schemas.openxmlformats.org/drawingml/2006/main">
              <a:ext uri="{FF2B5EF4-FFF2-40B4-BE49-F238E27FC236}">
                <a16:creationId xmlns:a16="http://schemas.microsoft.com/office/drawing/2014/main" id="{0FEFBC43-61C2-40A0-9CAD-2757BF777549}"/>
              </a:ext>
            </a:extLst>
          </p:cNvPr>
          <p:cNvSpPr>
            <a:spLocks xmlns:a="http://schemas.openxmlformats.org/drawingml/2006/main" noGrp="1"/>
          </p:cNvSpPr>
          <p:nvPr/>
        </p:nvSpPr>
        <p:spPr>
          <a:xfrm xmlns:a="http://schemas.openxmlformats.org/drawingml/2006/main">
            <a:off x="609600" y="2628900"/>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4667A"/>
                </a:solidFill>
                <a:latin typeface="Arial"/>
                <a:ea typeface="Arial"/>
                <a:cs typeface="Arial"/>
              </a:defRPr>
            </a:defPPr>
          </a:lstStyle>
          <a:p xmlns:a="http://schemas.openxmlformats.org/drawingml/2006/main">
            <a:pPr>
              <a:defRPr sz="1425" b="0">
                <a:solidFill>
                  <a:srgbClr val="54667A"/>
                </a:solidFill>
                <a:latin typeface="Arial"/>
                <a:ea typeface="Arial"/>
                <a:cs typeface="Arial"/>
              </a:defRPr>
            </a:pPr>
            <a:r>
              <a:rPr sz="1425" b="0">
                <a:solidFill>
                  <a:srgbClr val="54667A"/>
                </a:solidFill>
                <a:latin typeface="Arial"/>
                <a:ea typeface="Arial"/>
                <a:cs typeface="Arial"/>
              </a:rPr>
              <a:t>Repeat customers within the extract</a:t>
            </a:r>
          </a:p>
        </p:txBody>
      </p:sp>
      <p:sp>
        <p:nvSpPr>
          <p:cNvPr id="5" name="">
            <a:extLst xmlns:a="http://schemas.openxmlformats.org/drawingml/2006/main">
              <a:ext uri="{FF2B5EF4-FFF2-40B4-BE49-F238E27FC236}">
                <a16:creationId xmlns:a16="http://schemas.microsoft.com/office/drawing/2014/main" id="{DBB6FFEC-749E-43E4-BCDD-F054E458D545}"/>
              </a:ext>
            </a:extLst>
          </p:cNvPr>
          <p:cNvSpPr>
            <a:spLocks xmlns:a="http://schemas.openxmlformats.org/drawingml/2006/main" noGrp="1"/>
          </p:cNvSpPr>
          <p:nvPr/>
        </p:nvSpPr>
        <p:spPr>
          <a:xfrm xmlns:a="http://schemas.openxmlformats.org/drawingml/2006/main">
            <a:off x="609600" y="3314700"/>
            <a:ext cx="4286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250" b="1">
                <a:solidFill>
                  <a:srgbClr val="007D7C"/>
                </a:solidFill>
                <a:latin typeface="Arial"/>
                <a:ea typeface="Arial"/>
                <a:cs typeface="Arial"/>
              </a:defRPr>
            </a:defPPr>
          </a:lstStyle>
          <a:p xmlns:a="http://schemas.openxmlformats.org/drawingml/2006/main">
            <a:pPr>
              <a:defRPr sz="5250" b="1">
                <a:solidFill>
                  <a:srgbClr val="007D7C"/>
                </a:solidFill>
                <a:latin typeface="Arial"/>
                <a:ea typeface="Arial"/>
                <a:cs typeface="Arial"/>
              </a:defRPr>
            </a:pPr>
            <a:r>
              <a:rPr sz="5250" b="1">
                <a:solidFill>
                  <a:srgbClr val="007D7C"/>
                </a:solidFill>
                <a:latin typeface="Arial"/>
                <a:ea typeface="Arial"/>
                <a:cs typeface="Arial"/>
              </a:rPr>
              <a:t>2.28%</a:t>
            </a:r>
          </a:p>
        </p:txBody>
      </p:sp>
      <p:sp>
        <p:nvSpPr>
          <p:cNvPr id="6" name="">
            <a:extLst xmlns:a="http://schemas.openxmlformats.org/drawingml/2006/main">
              <a:ext uri="{FF2B5EF4-FFF2-40B4-BE49-F238E27FC236}">
                <a16:creationId xmlns:a16="http://schemas.microsoft.com/office/drawing/2014/main" id="{3DDE7E2F-6F9D-40A9-B8EB-F189F64A06FC}"/>
              </a:ext>
            </a:extLst>
          </p:cNvPr>
          <p:cNvSpPr>
            <a:spLocks xmlns:a="http://schemas.openxmlformats.org/drawingml/2006/main" noGrp="1"/>
          </p:cNvSpPr>
          <p:nvPr/>
        </p:nvSpPr>
        <p:spPr>
          <a:xfrm xmlns:a="http://schemas.openxmlformats.org/drawingml/2006/main">
            <a:off x="609600" y="4276725"/>
            <a:ext cx="5095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4667A"/>
                </a:solidFill>
                <a:latin typeface="Arial"/>
                <a:ea typeface="Arial"/>
                <a:cs typeface="Arial"/>
              </a:defRPr>
            </a:defPPr>
          </a:lstStyle>
          <a:p xmlns:a="http://schemas.openxmlformats.org/drawingml/2006/main">
            <a:pPr>
              <a:defRPr sz="1425" b="0">
                <a:solidFill>
                  <a:srgbClr val="54667A"/>
                </a:solidFill>
                <a:latin typeface="Arial"/>
                <a:ea typeface="Arial"/>
                <a:cs typeface="Arial"/>
              </a:defRPr>
            </a:pPr>
            <a:r>
              <a:rPr sz="1425" b="0">
                <a:solidFill>
                  <a:srgbClr val="54667A"/>
                </a:solidFill>
                <a:latin typeface="Arial"/>
                <a:ea typeface="Arial"/>
                <a:cs typeface="Arial"/>
              </a:rPr>
              <a:t>Repeat within 90 days, mature cohorts</a:t>
            </a:r>
          </a:p>
        </p:txBody>
      </p:sp>
      <p:sp>
        <p:nvSpPr>
          <p:cNvPr id="7" name="">
            <a:extLst xmlns:a="http://schemas.openxmlformats.org/drawingml/2006/main">
              <a:ext uri="{FF2B5EF4-FFF2-40B4-BE49-F238E27FC236}">
                <a16:creationId xmlns:a16="http://schemas.microsoft.com/office/drawing/2014/main" id="{E44B7F97-10DA-473A-B89B-1DBB75AC8315}"/>
              </a:ext>
            </a:extLst>
          </p:cNvPr>
          <p:cNvSpPr>
            <a:spLocks xmlns:a="http://schemas.openxmlformats.org/drawingml/2006/main" noGrp="1"/>
          </p:cNvSpPr>
          <p:nvPr/>
        </p:nvSpPr>
        <p:spPr>
          <a:xfrm xmlns:a="http://schemas.openxmlformats.org/drawingml/2006/main">
            <a:off x="6496050" y="1743075"/>
            <a:ext cx="5048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52B45"/>
                </a:solidFill>
                <a:latin typeface="Arial"/>
                <a:ea typeface="Arial"/>
                <a:cs typeface="Arial"/>
              </a:defRPr>
            </a:defPPr>
          </a:lstStyle>
          <a:p xmlns:a="http://schemas.openxmlformats.org/drawingml/2006/main">
            <a:pPr>
              <a:defRPr sz="3225" b="1">
                <a:solidFill>
                  <a:srgbClr val="152B45"/>
                </a:solidFill>
                <a:latin typeface="Arial"/>
                <a:ea typeface="Arial"/>
                <a:cs typeface="Arial"/>
              </a:defRPr>
            </a:pPr>
            <a:r>
              <a:rPr sz="3225" b="1">
                <a:solidFill>
                  <a:srgbClr val="152B45"/>
                </a:solidFill>
                <a:latin typeface="Arial"/>
                <a:ea typeface="Arial"/>
                <a:cs typeface="Arial"/>
              </a:rPr>
              <a:t>4,226 buyers</a:t>
            </a:r>
          </a:p>
        </p:txBody>
      </p:sp>
      <p:sp>
        <p:nvSpPr>
          <p:cNvPr id="8" name="">
            <a:extLst xmlns:a="http://schemas.openxmlformats.org/drawingml/2006/main">
              <a:ext uri="{FF2B5EF4-FFF2-40B4-BE49-F238E27FC236}">
                <a16:creationId xmlns:a16="http://schemas.microsoft.com/office/drawing/2014/main" id="{0EEDE89A-9440-4166-A99E-AB231EC15439}"/>
              </a:ext>
            </a:extLst>
          </p:cNvPr>
          <p:cNvSpPr>
            <a:spLocks xmlns:a="http://schemas.openxmlformats.org/drawingml/2006/main" noGrp="1"/>
          </p:cNvSpPr>
          <p:nvPr/>
        </p:nvSpPr>
        <p:spPr>
          <a:xfrm xmlns:a="http://schemas.openxmlformats.org/drawingml/2006/main">
            <a:off x="6496050" y="2562225"/>
            <a:ext cx="50482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52B45"/>
                </a:solidFill>
                <a:latin typeface="Arial"/>
                <a:ea typeface="Arial"/>
                <a:cs typeface="Arial"/>
              </a:defRPr>
            </a:defPPr>
          </a:lstStyle>
          <a:p xmlns:a="http://schemas.openxmlformats.org/drawingml/2006/main">
            <a:pPr>
              <a:defRPr sz="2250" b="0">
                <a:solidFill>
                  <a:srgbClr val="152B45"/>
                </a:solidFill>
                <a:latin typeface="Arial"/>
                <a:ea typeface="Arial"/>
                <a:cs typeface="Arial"/>
              </a:defRPr>
            </a:pPr>
            <a:r>
              <a:rPr sz="2250" b="0">
                <a:solidFill>
                  <a:srgbClr val="152B45"/>
                </a:solidFill>
                <a:latin typeface="Arial"/>
                <a:ea typeface="Arial"/>
                <a:cs typeface="Arial"/>
              </a:rPr>
              <a:t>Recent high-value first-time customers are the first CRM test audience.</a:t>
            </a:r>
          </a:p>
        </p:txBody>
      </p:sp>
      <p:sp>
        <p:nvSpPr>
          <p:cNvPr id="9" name="">
            <a:extLst xmlns:a="http://schemas.openxmlformats.org/drawingml/2006/main">
              <a:ext uri="{FF2B5EF4-FFF2-40B4-BE49-F238E27FC236}">
                <a16:creationId xmlns:a16="http://schemas.microsoft.com/office/drawing/2014/main" id="{8443C411-691A-413B-B915-6491D69BA4C1}"/>
              </a:ext>
            </a:extLst>
          </p:cNvPr>
          <p:cNvSpPr>
            <a:spLocks xmlns:a="http://schemas.openxmlformats.org/drawingml/2006/main" noGrp="1"/>
          </p:cNvSpPr>
          <p:nvPr/>
        </p:nvSpPr>
        <p:spPr>
          <a:xfrm xmlns:a="http://schemas.openxmlformats.org/drawingml/2006/main">
            <a:off x="6496050" y="4048125"/>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52B45"/>
                </a:solidFill>
                <a:latin typeface="Arial"/>
                <a:ea typeface="Arial"/>
                <a:cs typeface="Arial"/>
              </a:defRPr>
            </a:defPPr>
          </a:lstStyle>
          <a:p xmlns:a="http://schemas.openxmlformats.org/drawingml/2006/main">
            <a:pPr>
              <a:defRPr sz="2025" b="0">
                <a:solidFill>
                  <a:srgbClr val="152B45"/>
                </a:solidFill>
                <a:latin typeface="Arial"/>
                <a:ea typeface="Arial"/>
                <a:cs typeface="Arial"/>
              </a:defRPr>
            </a:pPr>
            <a:r>
              <a:rPr sz="2025" b="0">
                <a:solidFill>
                  <a:srgbClr val="152B45"/>
                </a:solidFill>
                <a:latin typeface="Arial"/>
                <a:ea typeface="Arial"/>
                <a:cs typeface="Arial"/>
              </a:rPr>
              <a:t>Credit cards carry 78.5% of payment value. 66.8% of credit-card payments use installments.</a:t>
            </a:r>
          </a:p>
        </p:txBody>
      </p:sp>
      <p:sp>
        <p:nvSpPr>
          <p:cNvPr id="10" name="">
            <a:extLst xmlns:a="http://schemas.openxmlformats.org/drawingml/2006/main">
              <a:ext uri="{FF2B5EF4-FFF2-40B4-BE49-F238E27FC236}">
                <a16:creationId xmlns:a16="http://schemas.microsoft.com/office/drawing/2014/main" id="{1431400C-55B8-4A72-AB28-179A0368A471}"/>
              </a:ext>
            </a:extLst>
          </p:cNvPr>
          <p:cNvSpPr>
            <a:spLocks xmlns:a="http://schemas.openxmlformats.org/drawingml/2006/main" noGrp="1"/>
          </p:cNvSpPr>
          <p:nvPr/>
        </p:nvSpPr>
        <p:spPr>
          <a:xfrm xmlns:a="http://schemas.openxmlformats.org/drawingml/2006/main">
            <a:off x="609600" y="5762625"/>
            <a:ext cx="10858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007D7C"/>
                </a:solidFill>
                <a:latin typeface="Arial"/>
                <a:ea typeface="Arial"/>
                <a:cs typeface="Arial"/>
              </a:defRPr>
            </a:defPPr>
          </a:lstStyle>
          <a:p xmlns:a="http://schemas.openxmlformats.org/drawingml/2006/main">
            <a:pPr>
              <a:defRPr sz="1875" b="1">
                <a:solidFill>
                  <a:srgbClr val="007D7C"/>
                </a:solidFill>
                <a:latin typeface="Arial"/>
                <a:ea typeface="Arial"/>
                <a:cs typeface="Arial"/>
              </a:defRPr>
            </a:pPr>
            <a:r>
              <a:rPr sz="1875" b="1">
                <a:solidFill>
                  <a:srgbClr val="007D7C"/>
                </a:solidFill>
                <a:latin typeface="Arial"/>
                <a:ea typeface="Arial"/>
                <a:cs typeface="Arial"/>
              </a:rPr>
              <a:t>A holdout experiment should measure incremental repeat orders after offer costs.</a:t>
            </a:r>
          </a:p>
        </p:txBody>
      </p:sp>
      <p:sp>
        <p:nvSpPr>
          <p:cNvPr id="11" name="">
            <a:extLst xmlns:a="http://schemas.openxmlformats.org/drawingml/2006/main">
              <a:ext uri="{FF2B5EF4-FFF2-40B4-BE49-F238E27FC236}">
                <a16:creationId xmlns:a16="http://schemas.microsoft.com/office/drawing/2014/main" id="{44C866C1-F13A-4E94-80EC-815C2ADF24DD}"/>
              </a:ext>
            </a:extLst>
          </p:cNvPr>
          <p:cNvSpPr>
            <a:spLocks xmlns:a="http://schemas.openxmlformats.org/drawingml/2006/main" noGrp="1"/>
          </p:cNvSpPr>
          <p:nvPr/>
        </p:nvSpPr>
        <p:spPr>
          <a:xfrm xmlns:a="http://schemas.openxmlformats.org/drawingml/2006/main">
            <a:off x="609600" y="62198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4667A"/>
                </a:solidFill>
                <a:latin typeface="Arial"/>
                <a:ea typeface="Arial"/>
                <a:cs typeface="Arial"/>
              </a:defRPr>
            </a:defPPr>
          </a:lstStyle>
          <a:p xmlns:a="http://schemas.openxmlformats.org/drawingml/2006/main">
            <a:pPr>
              <a:defRPr sz="1425" b="0">
                <a:solidFill>
                  <a:srgbClr val="54667A"/>
                </a:solidFill>
                <a:latin typeface="Arial"/>
                <a:ea typeface="Arial"/>
                <a:cs typeface="Arial"/>
              </a:defRPr>
            </a:pPr>
            <a:r>
              <a:rPr sz="1425" b="0">
                <a:solidFill>
                  <a:srgbClr val="54667A"/>
                </a:solidFill>
                <a:latin typeface="Arial"/>
                <a:ea typeface="Arial"/>
                <a:cs typeface="Arial"/>
              </a:rPr>
              <a:t>Historical identity and unequal follow-up windows limit lifetime-retention claims.</a:t>
            </a:r>
          </a:p>
        </p:txBody>
      </p:sp>
    </p:spTree>
    <p:extLst>
      <p:ext uri="{BB962C8B-B14F-4D97-AF65-F5344CB8AC3E}">
        <p14:creationId xmlns:p14="http://schemas.microsoft.com/office/powerpoint/2010/main" val="37083075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6FA4195-F8CD-4F06-AA96-ADD11F7D7244}"/>
              </a:ext>
            </a:extLst>
          </p:cNvPr>
          <p:cNvSpPr>
            <a:spLocks xmlns:a="http://schemas.openxmlformats.org/drawingml/2006/main" noGrp="1"/>
          </p:cNvSpPr>
          <p:nvPr/>
        </p:nvSpPr>
        <p:spPr>
          <a:xfrm xmlns:a="http://schemas.openxmlformats.org/drawingml/2006/main">
            <a:off x="609600" y="428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52B45"/>
                </a:solidFill>
                <a:latin typeface="Arial"/>
                <a:ea typeface="Arial"/>
                <a:cs typeface="Arial"/>
              </a:defRPr>
            </a:defPPr>
          </a:lstStyle>
          <a:p xmlns:a="http://schemas.openxmlformats.org/drawingml/2006/main">
            <a:pPr>
              <a:defRPr sz="3225" b="1">
                <a:solidFill>
                  <a:srgbClr val="152B45"/>
                </a:solidFill>
                <a:latin typeface="Arial"/>
                <a:ea typeface="Arial"/>
                <a:cs typeface="Arial"/>
              </a:defRPr>
            </a:pPr>
            <a:r>
              <a:rPr sz="3225" b="1">
                <a:solidFill>
                  <a:srgbClr val="152B45"/>
                </a:solidFill>
                <a:latin typeface="Arial"/>
                <a:ea typeface="Arial"/>
                <a:cs typeface="Arial"/>
              </a:rPr>
              <a:t>Late orders receive much poorer reviews</a:t>
            </a:r>
          </a:p>
        </p:txBody>
      </p:sp>
      <p:sp>
        <p:nvSpPr>
          <p:cNvPr id="2" name="">
            <a:extLst xmlns:a="http://schemas.openxmlformats.org/drawingml/2006/main">
              <a:ext uri="{FF2B5EF4-FFF2-40B4-BE49-F238E27FC236}">
                <a16:creationId xmlns:a16="http://schemas.microsoft.com/office/drawing/2014/main" id="{82BD88B2-3B3A-4894-A15D-F39A99F9D4CC}"/>
              </a:ext>
            </a:extLst>
          </p:cNvPr>
          <p:cNvSpPr>
            <a:spLocks xmlns:a="http://schemas.openxmlformats.org/drawingml/2006/main" noGrp="1"/>
          </p:cNvSpPr>
          <p:nvPr/>
        </p:nvSpPr>
        <p:spPr>
          <a:xfrm xmlns:a="http://schemas.openxmlformats.org/drawingml/2006/main">
            <a:off x="10763250" y="6438900"/>
            <a:ext cx="819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4667A"/>
                </a:solidFill>
                <a:latin typeface="Arial"/>
                <a:ea typeface="Arial"/>
                <a:cs typeface="Arial"/>
              </a:defRPr>
            </a:defPPr>
          </a:lstStyle>
          <a:p xmlns:a="http://schemas.openxmlformats.org/drawingml/2006/main">
            <a:pPr>
              <a:defRPr sz="1050" b="0">
                <a:solidFill>
                  <a:srgbClr val="54667A"/>
                </a:solidFill>
                <a:latin typeface="Arial"/>
                <a:ea typeface="Arial"/>
                <a:cs typeface="Arial"/>
              </a:defRPr>
            </a:pPr>
            <a:r>
              <a:rPr sz="1050" b="0">
                <a:solidFill>
                  <a:srgbClr val="54667A"/>
                </a:solidFill>
                <a:latin typeface="Arial"/>
                <a:ea typeface="Arial"/>
                <a:cs typeface="Arial"/>
              </a:rPr>
              <a:t>6 / 10</a:t>
            </a:r>
          </a:p>
        </p:txBody>
      </p:sp>
      <p:graphicFrame>
        <p:nvGraphicFramePr>
          <p:cNvPr id="3" name="Chart">
            <a:extLst xmlns:a="http://schemas.openxmlformats.org/drawingml/2006/main">
              <a:ext uri="{FF2B5EF4-FFF2-40B4-BE49-F238E27FC236}">
                <a16:creationId xmlns:a16="http://schemas.microsoft.com/office/drawing/2014/main" id="{D0EDA8D9-95E1-4760-9073-4924B60E68DE}"/>
              </a:ext>
            </a:extLst>
          </p:cNvPr>
          <p:cNvGraphicFramePr/>
          <p:nvPr/>
        </p:nvGraphicFramePr>
        <p:xfrm>
          <a:off xmlns:a="http://schemas.openxmlformats.org/drawingml/2006/main" x="609600" y="1762125"/>
          <a:ext xmlns:a="http://schemas.openxmlformats.org/drawingml/2006/main" cx="5810250" cy="3476625"/>
        </p:xfrm>
        <a:graphic xmlns:a="http://schemas.openxmlformats.org/drawingml/2006/main">
          <a:graphicData uri="http://schemas.openxmlformats.org/drawingml/2006/chart">
            <c:chart xmlns:r="http://schemas.openxmlformats.org/officeDocument/2006/relationships" xmlns:c="http://schemas.openxmlformats.org/drawingml/2006/chart" r:id="Re75d3d4dc5334a22"/>
          </a:graphicData>
        </a:graphic>
      </p:graphicFrame>
      <p:sp>
        <p:nvSpPr>
          <p:cNvPr id="4" name="">
            <a:extLst xmlns:a="http://schemas.openxmlformats.org/drawingml/2006/main">
              <a:ext uri="{FF2B5EF4-FFF2-40B4-BE49-F238E27FC236}">
                <a16:creationId xmlns:a16="http://schemas.microsoft.com/office/drawing/2014/main" id="{26798E48-B167-428A-9D18-3D553EE3ADE5}"/>
              </a:ext>
            </a:extLst>
          </p:cNvPr>
          <p:cNvSpPr>
            <a:spLocks xmlns:a="http://schemas.openxmlformats.org/drawingml/2006/main" noGrp="1"/>
          </p:cNvSpPr>
          <p:nvPr/>
        </p:nvSpPr>
        <p:spPr>
          <a:xfrm xmlns:a="http://schemas.openxmlformats.org/drawingml/2006/main">
            <a:off x="7143750" y="1743075"/>
            <a:ext cx="4333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250" b="1">
                <a:solidFill>
                  <a:srgbClr val="BD3D4B"/>
                </a:solidFill>
                <a:latin typeface="Arial"/>
                <a:ea typeface="Arial"/>
                <a:cs typeface="Arial"/>
              </a:defRPr>
            </a:defPPr>
          </a:lstStyle>
          <a:p xmlns:a="http://schemas.openxmlformats.org/drawingml/2006/main">
            <a:pPr>
              <a:defRPr sz="5250" b="1">
                <a:solidFill>
                  <a:srgbClr val="BD3D4B"/>
                </a:solidFill>
                <a:latin typeface="Arial"/>
                <a:ea typeface="Arial"/>
                <a:cs typeface="Arial"/>
              </a:defRPr>
            </a:pPr>
            <a:r>
              <a:rPr sz="5250" b="1">
                <a:solidFill>
                  <a:srgbClr val="BD3D4B"/>
                </a:solidFill>
                <a:latin typeface="Arial"/>
                <a:ea typeface="Arial"/>
                <a:cs typeface="Arial"/>
              </a:rPr>
              <a:t>8.11%</a:t>
            </a:r>
          </a:p>
        </p:txBody>
      </p:sp>
      <p:sp>
        <p:nvSpPr>
          <p:cNvPr id="5" name="">
            <a:extLst xmlns:a="http://schemas.openxmlformats.org/drawingml/2006/main">
              <a:ext uri="{FF2B5EF4-FFF2-40B4-BE49-F238E27FC236}">
                <a16:creationId xmlns:a16="http://schemas.microsoft.com/office/drawing/2014/main" id="{57A3BB0F-976B-44A8-AF23-46396FD35CBF}"/>
              </a:ext>
            </a:extLst>
          </p:cNvPr>
          <p:cNvSpPr>
            <a:spLocks xmlns:a="http://schemas.openxmlformats.org/drawingml/2006/main" noGrp="1"/>
          </p:cNvSpPr>
          <p:nvPr/>
        </p:nvSpPr>
        <p:spPr>
          <a:xfrm xmlns:a="http://schemas.openxmlformats.org/drawingml/2006/main">
            <a:off x="7143750" y="2714625"/>
            <a:ext cx="433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4667A"/>
                </a:solidFill>
                <a:latin typeface="Arial"/>
                <a:ea typeface="Arial"/>
                <a:cs typeface="Arial"/>
              </a:defRPr>
            </a:defPPr>
          </a:lstStyle>
          <a:p xmlns:a="http://schemas.openxmlformats.org/drawingml/2006/main">
            <a:pPr>
              <a:defRPr sz="1425" b="0">
                <a:solidFill>
                  <a:srgbClr val="54667A"/>
                </a:solidFill>
                <a:latin typeface="Arial"/>
                <a:ea typeface="Arial"/>
                <a:cs typeface="Arial"/>
              </a:defRPr>
            </a:pPr>
            <a:r>
              <a:rPr sz="1425" b="0">
                <a:solidFill>
                  <a:srgbClr val="54667A"/>
                </a:solidFill>
                <a:latin typeface="Arial"/>
                <a:ea typeface="Arial"/>
                <a:cs typeface="Arial"/>
              </a:rPr>
              <a:t>Eligible delivered orders were late</a:t>
            </a:r>
          </a:p>
        </p:txBody>
      </p:sp>
      <p:sp>
        <p:nvSpPr>
          <p:cNvPr id="6" name="">
            <a:extLst xmlns:a="http://schemas.openxmlformats.org/drawingml/2006/main">
              <a:ext uri="{FF2B5EF4-FFF2-40B4-BE49-F238E27FC236}">
                <a16:creationId xmlns:a16="http://schemas.microsoft.com/office/drawing/2014/main" id="{0ED3E800-95A3-4640-90E7-6DDA633F95D8}"/>
              </a:ext>
            </a:extLst>
          </p:cNvPr>
          <p:cNvSpPr>
            <a:spLocks xmlns:a="http://schemas.openxmlformats.org/drawingml/2006/main" noGrp="1"/>
          </p:cNvSpPr>
          <p:nvPr/>
        </p:nvSpPr>
        <p:spPr>
          <a:xfrm xmlns:a="http://schemas.openxmlformats.org/drawingml/2006/main">
            <a:off x="7143750" y="3457575"/>
            <a:ext cx="4333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152B45"/>
                </a:solidFill>
                <a:latin typeface="Arial"/>
                <a:ea typeface="Arial"/>
                <a:cs typeface="Arial"/>
              </a:defRPr>
            </a:defPPr>
          </a:lstStyle>
          <a:p xmlns:a="http://schemas.openxmlformats.org/drawingml/2006/main">
            <a:pPr>
              <a:defRPr sz="2475" b="1">
                <a:solidFill>
                  <a:srgbClr val="152B45"/>
                </a:solidFill>
                <a:latin typeface="Arial"/>
                <a:ea typeface="Arial"/>
                <a:cs typeface="Arial"/>
              </a:defRPr>
            </a:pPr>
            <a:r>
              <a:rPr sz="2475" b="1">
                <a:solidFill>
                  <a:srgbClr val="152B45"/>
                </a:solidFill>
                <a:latin typeface="Arial"/>
                <a:ea typeface="Arial"/>
                <a:cs typeface="Arial"/>
              </a:rPr>
              <a:t>54.1% of late orders</a:t>
            </a:r>
          </a:p>
          <a:p xmlns:a="http://schemas.openxmlformats.org/drawingml/2006/main">
            <a:pPr>
              <a:defRPr sz="2475" b="1">
                <a:solidFill>
                  <a:srgbClr val="152B45"/>
                </a:solidFill>
                <a:latin typeface="Arial"/>
                <a:ea typeface="Arial"/>
                <a:cs typeface="Arial"/>
              </a:defRPr>
            </a:pPr>
            <a:r>
              <a:rPr sz="2475" b="1">
                <a:solidFill>
                  <a:srgbClr val="152B45"/>
                </a:solidFill>
                <a:latin typeface="Arial"/>
                <a:ea typeface="Arial"/>
                <a:cs typeface="Arial"/>
              </a:rPr>
              <a:t>receive 1-2 stars</a:t>
            </a:r>
          </a:p>
        </p:txBody>
      </p:sp>
      <p:sp>
        <p:nvSpPr>
          <p:cNvPr id="7" name="">
            <a:extLst xmlns:a="http://schemas.openxmlformats.org/drawingml/2006/main">
              <a:ext uri="{FF2B5EF4-FFF2-40B4-BE49-F238E27FC236}">
                <a16:creationId xmlns:a16="http://schemas.microsoft.com/office/drawing/2014/main" id="{EB16B7B6-924F-4AA5-8024-E4B5AA827469}"/>
              </a:ext>
            </a:extLst>
          </p:cNvPr>
          <p:cNvSpPr>
            <a:spLocks xmlns:a="http://schemas.openxmlformats.org/drawingml/2006/main" noGrp="1"/>
          </p:cNvSpPr>
          <p:nvPr/>
        </p:nvSpPr>
        <p:spPr>
          <a:xfrm xmlns:a="http://schemas.openxmlformats.org/drawingml/2006/main">
            <a:off x="7143750" y="4838700"/>
            <a:ext cx="4333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52B45"/>
                </a:solidFill>
                <a:latin typeface="Arial"/>
                <a:ea typeface="Arial"/>
                <a:cs typeface="Arial"/>
              </a:defRPr>
            </a:defPPr>
          </a:lstStyle>
          <a:p xmlns:a="http://schemas.openxmlformats.org/drawingml/2006/main">
            <a:pPr>
              <a:defRPr sz="1950" b="0">
                <a:solidFill>
                  <a:srgbClr val="152B45"/>
                </a:solidFill>
                <a:latin typeface="Arial"/>
                <a:ea typeface="Arial"/>
                <a:cs typeface="Arial"/>
              </a:defRPr>
            </a:pPr>
            <a:r>
              <a:rPr sz="1950" b="0">
                <a:solidFill>
                  <a:srgbClr val="152B45"/>
                </a:solidFill>
                <a:latin typeface="Arial"/>
                <a:ea typeface="Arial"/>
                <a:cs typeface="Arial"/>
              </a:rPr>
              <a:t>9.2% of on-time orders receive 1-2 stars.</a:t>
            </a:r>
          </a:p>
        </p:txBody>
      </p:sp>
      <p:sp>
        <p:nvSpPr>
          <p:cNvPr id="8" name="">
            <a:extLst xmlns:a="http://schemas.openxmlformats.org/drawingml/2006/main">
              <a:ext uri="{FF2B5EF4-FFF2-40B4-BE49-F238E27FC236}">
                <a16:creationId xmlns:a16="http://schemas.microsoft.com/office/drawing/2014/main" id="{900A4B6E-015B-42FC-8AF6-69833C446713}"/>
              </a:ext>
            </a:extLst>
          </p:cNvPr>
          <p:cNvSpPr>
            <a:spLocks xmlns:a="http://schemas.openxmlformats.org/drawingml/2006/main" noGrp="1"/>
          </p:cNvSpPr>
          <p:nvPr/>
        </p:nvSpPr>
        <p:spPr>
          <a:xfrm xmlns:a="http://schemas.openxmlformats.org/drawingml/2006/main">
            <a:off x="609600" y="5762625"/>
            <a:ext cx="10858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007D7C"/>
                </a:solidFill>
                <a:latin typeface="Arial"/>
                <a:ea typeface="Arial"/>
                <a:cs typeface="Arial"/>
              </a:defRPr>
            </a:defPPr>
          </a:lstStyle>
          <a:p xmlns:a="http://schemas.openxmlformats.org/drawingml/2006/main">
            <a:pPr>
              <a:defRPr sz="1875" b="1">
                <a:solidFill>
                  <a:srgbClr val="007D7C"/>
                </a:solidFill>
                <a:latin typeface="Arial"/>
                <a:ea typeface="Arial"/>
                <a:cs typeface="Arial"/>
              </a:defRPr>
            </a:pPr>
            <a:r>
              <a:rPr sz="1875" b="1">
                <a:solidFill>
                  <a:srgbClr val="007D7C"/>
                </a:solidFill>
                <a:latin typeface="Arial"/>
                <a:ea typeface="Arial"/>
                <a:cs typeface="Arial"/>
              </a:rPr>
              <a:t>Rio de Janeiro combines high GMV with a 13.5% late rate, above the 8.1% baseline.</a:t>
            </a:r>
          </a:p>
        </p:txBody>
      </p:sp>
    </p:spTree>
    <p:extLst>
      <p:ext uri="{BB962C8B-B14F-4D97-AF65-F5344CB8AC3E}">
        <p14:creationId xmlns:p14="http://schemas.microsoft.com/office/powerpoint/2010/main" val="9379560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845C7FE-0A21-44FB-9C5C-DCEBD7231129}"/>
              </a:ext>
            </a:extLst>
          </p:cNvPr>
          <p:cNvSpPr>
            <a:spLocks xmlns:a="http://schemas.openxmlformats.org/drawingml/2006/main" noGrp="1"/>
          </p:cNvSpPr>
          <p:nvPr/>
        </p:nvSpPr>
        <p:spPr>
          <a:xfrm xmlns:a="http://schemas.openxmlformats.org/drawingml/2006/main">
            <a:off x="609600" y="428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52B45"/>
                </a:solidFill>
                <a:latin typeface="Arial"/>
                <a:ea typeface="Arial"/>
                <a:cs typeface="Arial"/>
              </a:defRPr>
            </a:defPPr>
          </a:lstStyle>
          <a:p xmlns:a="http://schemas.openxmlformats.org/drawingml/2006/main">
            <a:pPr>
              <a:defRPr sz="3225" b="1">
                <a:solidFill>
                  <a:srgbClr val="152B45"/>
                </a:solidFill>
                <a:latin typeface="Arial"/>
                <a:ea typeface="Arial"/>
                <a:cs typeface="Arial"/>
              </a:defRPr>
            </a:pPr>
            <a:r>
              <a:rPr sz="3225" b="1">
                <a:solidFill>
                  <a:srgbClr val="152B45"/>
                </a:solidFill>
                <a:latin typeface="Arial"/>
                <a:ea typeface="Arial"/>
                <a:cs typeface="Arial"/>
              </a:rPr>
              <a:t>Statistical evidence supports an intervention test</a:t>
            </a:r>
          </a:p>
        </p:txBody>
      </p:sp>
      <p:sp>
        <p:nvSpPr>
          <p:cNvPr id="2" name="">
            <a:extLst xmlns:a="http://schemas.openxmlformats.org/drawingml/2006/main">
              <a:ext uri="{FF2B5EF4-FFF2-40B4-BE49-F238E27FC236}">
                <a16:creationId xmlns:a16="http://schemas.microsoft.com/office/drawing/2014/main" id="{C09B1BC5-6A76-45D6-9A41-2D9EF475AAD3}"/>
              </a:ext>
            </a:extLst>
          </p:cNvPr>
          <p:cNvSpPr>
            <a:spLocks xmlns:a="http://schemas.openxmlformats.org/drawingml/2006/main" noGrp="1"/>
          </p:cNvSpPr>
          <p:nvPr/>
        </p:nvSpPr>
        <p:spPr>
          <a:xfrm xmlns:a="http://schemas.openxmlformats.org/drawingml/2006/main">
            <a:off x="10763250" y="6438900"/>
            <a:ext cx="819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4667A"/>
                </a:solidFill>
                <a:latin typeface="Arial"/>
                <a:ea typeface="Arial"/>
                <a:cs typeface="Arial"/>
              </a:defRPr>
            </a:defPPr>
          </a:lstStyle>
          <a:p xmlns:a="http://schemas.openxmlformats.org/drawingml/2006/main">
            <a:pPr>
              <a:defRPr sz="1050" b="0">
                <a:solidFill>
                  <a:srgbClr val="54667A"/>
                </a:solidFill>
                <a:latin typeface="Arial"/>
                <a:ea typeface="Arial"/>
                <a:cs typeface="Arial"/>
              </a:defRPr>
            </a:pPr>
            <a:r>
              <a:rPr sz="1050" b="0">
                <a:solidFill>
                  <a:srgbClr val="54667A"/>
                </a:solidFill>
                <a:latin typeface="Arial"/>
                <a:ea typeface="Arial"/>
                <a:cs typeface="Arial"/>
              </a:rPr>
              <a:t>7 / 10</a:t>
            </a:r>
          </a:p>
        </p:txBody>
      </p:sp>
      <p:graphicFrame>
        <p:nvGraphicFramePr>
          <p:cNvPr id="3" name="">
            <a:extLst xmlns:a="http://schemas.openxmlformats.org/drawingml/2006/main">
              <a:ext uri="{FF2B5EF4-FFF2-40B4-BE49-F238E27FC236}">
                <a16:creationId xmlns:a16="http://schemas.microsoft.com/office/drawing/2014/main" id="{DCC2C4DA-C347-4C47-A08E-877CDA1B3583}"/>
              </a:ext>
            </a:extLst>
          </p:cNvPr>
          <p:cNvGraphicFramePr/>
          <p:nvPr/>
        </p:nvGraphicFramePr>
        <p:xfrm>
          <a:off xmlns:a="http://schemas.openxmlformats.org/drawingml/2006/main" x="609600" y="1733550"/>
          <a:ext xmlns:a="http://schemas.openxmlformats.org/drawingml/2006/main" cx="10972800" cy="2095500"/>
        </p:xfrm>
        <a:graphic xmlns:a="http://schemas.openxmlformats.org/drawingml/2006/main">
          <a:graphicData uri="http://schemas.openxmlformats.org/drawingml/2006/table">
            <a:tbl>
              <a:tblPr/>
              <a:tblGrid>
                <a:gridCol w="5905500"/>
                <a:gridCol w="2714625"/>
                <a:gridCol w="2352675"/>
              </a:tblGrid>
              <a:tr h="698500">
                <a:tc>
                  <a:txBody>
                    <a:bodyPr lIns="114300" tIns="114300" rIns="114300" bIns="114300"/>
                    <a:lstStyle/>
                    <a:p>
                      <a:r>
                        <a:rPr sz="1425" b="1">
                          <a:solidFill>
                            <a:srgbClr val="FFFFFF"/>
                          </a:solidFill>
                          <a:latin typeface="Arial"/>
                          <a:ea typeface="Arial"/>
                          <a:cs typeface="Arial"/>
                        </a:rPr>
                        <a:t>Test, two-sided, alpha 0.05</a:t>
                      </a:r>
                    </a:p>
                  </a:txBody>
                  <a:tcPr marL="91440" marR="91440" marT="45720" marB="45720" anchor="ctr">
                    <a:solidFill>
                      <a:srgbClr val="152B45"/>
                    </a:solidFill>
                  </a:tcPr>
                </a:tc>
                <a:tc>
                  <a:txBody>
                    <a:bodyPr lIns="114300" tIns="114300" rIns="114300" bIns="114300"/>
                    <a:lstStyle/>
                    <a:p>
                      <a:r>
                        <a:rPr sz="1425" b="1">
                          <a:solidFill>
                            <a:srgbClr val="FFFFFF"/>
                          </a:solidFill>
                          <a:latin typeface="Arial"/>
                          <a:ea typeface="Arial"/>
                          <a:cs typeface="Arial"/>
                        </a:rPr>
                        <a:t>Statistic</a:t>
                      </a:r>
                    </a:p>
                  </a:txBody>
                  <a:tcPr marL="91440" marR="91440" marT="45720" marB="45720" anchor="ctr">
                    <a:solidFill>
                      <a:srgbClr val="152B45"/>
                    </a:solidFill>
                  </a:tcPr>
                </a:tc>
                <a:tc>
                  <a:txBody>
                    <a:bodyPr lIns="114300" tIns="114300" rIns="114300" bIns="114300"/>
                    <a:lstStyle/>
                    <a:p>
                      <a:r>
                        <a:rPr sz="1425" b="1">
                          <a:solidFill>
                            <a:srgbClr val="FFFFFF"/>
                          </a:solidFill>
                          <a:latin typeface="Arial"/>
                          <a:ea typeface="Arial"/>
                          <a:cs typeface="Arial"/>
                        </a:rPr>
                        <a:t>Evidence</a:t>
                      </a:r>
                    </a:p>
                  </a:txBody>
                  <a:tcPr marL="91440" marR="91440" marT="45720" marB="45720" anchor="ctr">
                    <a:solidFill>
                      <a:srgbClr val="152B45"/>
                    </a:solidFill>
                  </a:tcPr>
                </a:tc>
              </a:tr>
              <a:tr h="698500">
                <a:tc>
                  <a:txBody>
                    <a:bodyPr lIns="114300" tIns="114300" rIns="114300" bIns="114300"/>
                    <a:lstStyle/>
                    <a:p>
                      <a:r>
                        <a:rPr sz="1575" b="0">
                          <a:solidFill>
                            <a:srgbClr val="152B45"/>
                          </a:solidFill>
                          <a:latin typeface="Arial"/>
                          <a:ea typeface="Arial"/>
                          <a:cs typeface="Arial"/>
                        </a:rPr>
                        <a:t>Welch mean-score comparison</a:t>
                      </a:r>
                    </a:p>
                  </a:txBody>
                  <a:tcPr marL="91440" marR="91440" marT="45720" marB="45720" anchor="ctr">
                    <a:solidFill>
                      <a:srgbClr val="FFFFFF"/>
                    </a:solidFill>
                  </a:tcPr>
                </a:tc>
                <a:tc>
                  <a:txBody>
                    <a:bodyPr lIns="114300" tIns="114300" rIns="114300" bIns="114300"/>
                    <a:lstStyle/>
                    <a:p>
                      <a:r>
                        <a:rPr sz="1575" b="0">
                          <a:solidFill>
                            <a:srgbClr val="152B45"/>
                          </a:solidFill>
                          <a:latin typeface="Arial"/>
                          <a:ea typeface="Arial"/>
                          <a:cs typeface="Arial"/>
                        </a:rPr>
                        <a:t>t = -89.41</a:t>
                      </a:r>
                    </a:p>
                  </a:txBody>
                  <a:tcPr marL="91440" marR="91440" marT="45720" marB="45720" anchor="ctr">
                    <a:solidFill>
                      <a:srgbClr val="FFFFFF"/>
                    </a:solidFill>
                  </a:tcPr>
                </a:tc>
                <a:tc>
                  <a:txBody>
                    <a:bodyPr lIns="114300" tIns="114300" rIns="114300" bIns="114300"/>
                    <a:lstStyle/>
                    <a:p>
                      <a:r>
                        <a:rPr sz="1575" b="0">
                          <a:solidFill>
                            <a:srgbClr val="152B45"/>
                          </a:solidFill>
                          <a:latin typeface="Arial"/>
                          <a:ea typeface="Arial"/>
                          <a:cs typeface="Arial"/>
                        </a:rPr>
                        <a:t>p &lt; 0.001</a:t>
                      </a:r>
                    </a:p>
                  </a:txBody>
                  <a:tcPr marL="91440" marR="91440" marT="45720" marB="45720" anchor="ctr">
                    <a:solidFill>
                      <a:srgbClr val="FFFFFF"/>
                    </a:solidFill>
                  </a:tcPr>
                </a:tc>
              </a:tr>
              <a:tr h="698500">
                <a:tc>
                  <a:txBody>
                    <a:bodyPr lIns="114300" tIns="114300" rIns="114300" bIns="114300"/>
                    <a:lstStyle/>
                    <a:p>
                      <a:r>
                        <a:rPr sz="1575" b="0">
                          <a:solidFill>
                            <a:srgbClr val="152B45"/>
                          </a:solidFill>
                          <a:latin typeface="Arial"/>
                          <a:ea typeface="Arial"/>
                          <a:cs typeface="Arial"/>
                        </a:rPr>
                        <a:t>Spearman delay / review</a:t>
                      </a:r>
                    </a:p>
                  </a:txBody>
                  <a:tcPr marL="91440" marR="91440" marT="45720" marB="45720" anchor="ctr">
                    <a:solidFill>
                      <a:srgbClr val="EAF0F8"/>
                    </a:solidFill>
                  </a:tcPr>
                </a:tc>
                <a:tc>
                  <a:txBody>
                    <a:bodyPr lIns="114300" tIns="114300" rIns="114300" bIns="114300"/>
                    <a:lstStyle/>
                    <a:p>
                      <a:r>
                        <a:rPr sz="1575" b="0">
                          <a:solidFill>
                            <a:srgbClr val="152B45"/>
                          </a:solidFill>
                          <a:latin typeface="Arial"/>
                          <a:ea typeface="Arial"/>
                          <a:cs typeface="Arial"/>
                        </a:rPr>
                        <a:t>rho = -0.176</a:t>
                      </a:r>
                    </a:p>
                  </a:txBody>
                  <a:tcPr marL="91440" marR="91440" marT="45720" marB="45720" anchor="ctr">
                    <a:solidFill>
                      <a:srgbClr val="EAF0F8"/>
                    </a:solidFill>
                  </a:tcPr>
                </a:tc>
                <a:tc>
                  <a:txBody>
                    <a:bodyPr lIns="114300" tIns="114300" rIns="114300" bIns="114300"/>
                    <a:lstStyle/>
                    <a:p>
                      <a:r>
                        <a:rPr sz="1575" b="0">
                          <a:solidFill>
                            <a:srgbClr val="152B45"/>
                          </a:solidFill>
                          <a:latin typeface="Arial"/>
                          <a:ea typeface="Arial"/>
                          <a:cs typeface="Arial"/>
                        </a:rPr>
                        <a:t>p &lt; 0.001</a:t>
                      </a:r>
                    </a:p>
                  </a:txBody>
                  <a:tcPr marL="91440" marR="91440" marT="45720" marB="45720" anchor="ctr">
                    <a:solidFill>
                      <a:srgbClr val="EAF0F8"/>
                    </a:solidFill>
                  </a:tcPr>
                </a:tc>
              </a:tr>
            </a:tbl>
          </a:graphicData>
        </a:graphic>
      </p:graphicFrame>
      <p:sp>
        <p:nvSpPr>
          <p:cNvPr id="4" name="">
            <a:extLst xmlns:a="http://schemas.openxmlformats.org/drawingml/2006/main">
              <a:ext uri="{FF2B5EF4-FFF2-40B4-BE49-F238E27FC236}">
                <a16:creationId xmlns:a16="http://schemas.microsoft.com/office/drawing/2014/main" id="{FEAA515A-2237-4B3E-88DB-200C83B054CE}"/>
              </a:ext>
            </a:extLst>
          </p:cNvPr>
          <p:cNvSpPr>
            <a:spLocks xmlns:a="http://schemas.openxmlformats.org/drawingml/2006/main" noGrp="1"/>
          </p:cNvSpPr>
          <p:nvPr/>
        </p:nvSpPr>
        <p:spPr>
          <a:xfrm xmlns:a="http://schemas.openxmlformats.org/drawingml/2006/main">
            <a:off x="609600" y="4314825"/>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BD3D4B"/>
                </a:solidFill>
                <a:latin typeface="Arial"/>
                <a:ea typeface="Arial"/>
                <a:cs typeface="Arial"/>
              </a:defRPr>
            </a:defPPr>
          </a:lstStyle>
          <a:p xmlns:a="http://schemas.openxmlformats.org/drawingml/2006/main">
            <a:pPr>
              <a:defRPr sz="3225" b="1">
                <a:solidFill>
                  <a:srgbClr val="BD3D4B"/>
                </a:solidFill>
                <a:latin typeface="Arial"/>
                <a:ea typeface="Arial"/>
                <a:cs typeface="Arial"/>
              </a:defRPr>
            </a:pPr>
            <a:r>
              <a:rPr sz="3225" b="1">
                <a:solidFill>
                  <a:srgbClr val="BD3D4B"/>
                </a:solidFill>
                <a:latin typeface="Arial"/>
                <a:ea typeface="Arial"/>
                <a:cs typeface="Arial"/>
              </a:rPr>
              <a:t>-1.73 review points</a:t>
            </a:r>
          </a:p>
        </p:txBody>
      </p:sp>
      <p:sp>
        <p:nvSpPr>
          <p:cNvPr id="5" name="">
            <a:extLst xmlns:a="http://schemas.openxmlformats.org/drawingml/2006/main">
              <a:ext uri="{FF2B5EF4-FFF2-40B4-BE49-F238E27FC236}">
                <a16:creationId xmlns:a16="http://schemas.microsoft.com/office/drawing/2014/main" id="{C3E2E5B5-29B8-4E0C-B0EA-94250BD824AD}"/>
              </a:ext>
            </a:extLst>
          </p:cNvPr>
          <p:cNvSpPr>
            <a:spLocks xmlns:a="http://schemas.openxmlformats.org/drawingml/2006/main" noGrp="1"/>
          </p:cNvSpPr>
          <p:nvPr/>
        </p:nvSpPr>
        <p:spPr>
          <a:xfrm xmlns:a="http://schemas.openxmlformats.org/drawingml/2006/main">
            <a:off x="609600" y="506730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52B45"/>
                </a:solidFill>
                <a:latin typeface="Arial"/>
                <a:ea typeface="Arial"/>
                <a:cs typeface="Arial"/>
              </a:defRPr>
            </a:defPPr>
          </a:lstStyle>
          <a:p xmlns:a="http://schemas.openxmlformats.org/drawingml/2006/main">
            <a:pPr>
              <a:defRPr sz="1875" b="0">
                <a:solidFill>
                  <a:srgbClr val="152B45"/>
                </a:solidFill>
                <a:latin typeface="Arial"/>
                <a:ea typeface="Arial"/>
                <a:cs typeface="Arial"/>
              </a:defRPr>
            </a:pPr>
            <a:r>
              <a:rPr sz="1875" b="0">
                <a:solidFill>
                  <a:srgbClr val="152B45"/>
                </a:solidFill>
                <a:latin typeface="Arial"/>
                <a:ea typeface="Arial"/>
                <a:cs typeface="Arial"/>
              </a:rPr>
              <a:t>Late minus on-time. 95% CI -1.77 to -1.69.</a:t>
            </a:r>
          </a:p>
        </p:txBody>
      </p:sp>
      <p:sp>
        <p:nvSpPr>
          <p:cNvPr id="6" name="">
            <a:extLst xmlns:a="http://schemas.openxmlformats.org/drawingml/2006/main">
              <a:ext uri="{FF2B5EF4-FFF2-40B4-BE49-F238E27FC236}">
                <a16:creationId xmlns:a16="http://schemas.microsoft.com/office/drawing/2014/main" id="{F98E19D8-287C-4DA6-BE03-2F9FA0015C8F}"/>
              </a:ext>
            </a:extLst>
          </p:cNvPr>
          <p:cNvSpPr>
            <a:spLocks xmlns:a="http://schemas.openxmlformats.org/drawingml/2006/main" noGrp="1"/>
          </p:cNvSpPr>
          <p:nvPr/>
        </p:nvSpPr>
        <p:spPr>
          <a:xfrm xmlns:a="http://schemas.openxmlformats.org/drawingml/2006/main">
            <a:off x="6743700" y="4333875"/>
            <a:ext cx="47910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52B45"/>
                </a:solidFill>
                <a:latin typeface="Arial"/>
                <a:ea typeface="Arial"/>
                <a:cs typeface="Arial"/>
              </a:defRPr>
            </a:defPPr>
          </a:lstStyle>
          <a:p xmlns:a="http://schemas.openxmlformats.org/drawingml/2006/main">
            <a:pPr>
              <a:defRPr sz="2175" b="1">
                <a:solidFill>
                  <a:srgbClr val="152B45"/>
                </a:solidFill>
                <a:latin typeface="Arial"/>
                <a:ea typeface="Arial"/>
                <a:cs typeface="Arial"/>
              </a:defRPr>
            </a:pPr>
            <a:r>
              <a:rPr sz="2175" b="1">
                <a:solidFill>
                  <a:srgbClr val="152B45"/>
                </a:solidFill>
                <a:latin typeface="Arial"/>
                <a:ea typeface="Arial"/>
                <a:cs typeface="Arial"/>
              </a:rPr>
              <a:t>The relationship survives review aggregation and calendar-day sensitivity checks.</a:t>
            </a:r>
          </a:p>
        </p:txBody>
      </p:sp>
      <p:sp>
        <p:nvSpPr>
          <p:cNvPr id="7" name="">
            <a:extLst xmlns:a="http://schemas.openxmlformats.org/drawingml/2006/main">
              <a:ext uri="{FF2B5EF4-FFF2-40B4-BE49-F238E27FC236}">
                <a16:creationId xmlns:a16="http://schemas.microsoft.com/office/drawing/2014/main" id="{034E9714-32B3-4705-B01C-90618FFA8589}"/>
              </a:ext>
            </a:extLst>
          </p:cNvPr>
          <p:cNvSpPr>
            <a:spLocks xmlns:a="http://schemas.openxmlformats.org/drawingml/2006/main" noGrp="1"/>
          </p:cNvSpPr>
          <p:nvPr/>
        </p:nvSpPr>
        <p:spPr>
          <a:xfrm xmlns:a="http://schemas.openxmlformats.org/drawingml/2006/main">
            <a:off x="609600" y="5953125"/>
            <a:ext cx="10858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007D7C"/>
                </a:solidFill>
                <a:latin typeface="Arial"/>
                <a:ea typeface="Arial"/>
                <a:cs typeface="Arial"/>
              </a:defRPr>
            </a:defPPr>
          </a:lstStyle>
          <a:p xmlns:a="http://schemas.openxmlformats.org/drawingml/2006/main">
            <a:pPr>
              <a:defRPr sz="1875" b="1">
                <a:solidFill>
                  <a:srgbClr val="007D7C"/>
                </a:solidFill>
                <a:latin typeface="Arial"/>
                <a:ea typeface="Arial"/>
                <a:cs typeface="Arial"/>
              </a:defRPr>
            </a:pPr>
            <a:r>
              <a:rPr sz="1875" b="1">
                <a:solidFill>
                  <a:srgbClr val="007D7C"/>
                </a:solidFill>
                <a:latin typeface="Arial"/>
                <a:ea typeface="Arial"/>
                <a:cs typeface="Arial"/>
              </a:rPr>
              <a:t>Association does not establish causation. Seller, route and season can confound it.</a:t>
            </a:r>
          </a:p>
        </p:txBody>
      </p:sp>
    </p:spTree>
    <p:extLst>
      <p:ext uri="{BB962C8B-B14F-4D97-AF65-F5344CB8AC3E}">
        <p14:creationId xmlns:p14="http://schemas.microsoft.com/office/powerpoint/2010/main" val="146450676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67D2F3F-6616-4ABB-B2EF-AA02DB59DF49}"/>
              </a:ext>
            </a:extLst>
          </p:cNvPr>
          <p:cNvSpPr>
            <a:spLocks xmlns:a="http://schemas.openxmlformats.org/drawingml/2006/main" noGrp="1"/>
          </p:cNvSpPr>
          <p:nvPr/>
        </p:nvSpPr>
        <p:spPr>
          <a:xfrm xmlns:a="http://schemas.openxmlformats.org/drawingml/2006/main">
            <a:off x="609600" y="428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52B45"/>
                </a:solidFill>
                <a:latin typeface="Arial"/>
                <a:ea typeface="Arial"/>
                <a:cs typeface="Arial"/>
              </a:defRPr>
            </a:defPPr>
          </a:lstStyle>
          <a:p xmlns:a="http://schemas.openxmlformats.org/drawingml/2006/main">
            <a:pPr>
              <a:defRPr sz="3225" b="1">
                <a:solidFill>
                  <a:srgbClr val="152B45"/>
                </a:solidFill>
                <a:latin typeface="Arial"/>
                <a:ea typeface="Arial"/>
                <a:cs typeface="Arial"/>
              </a:defRPr>
            </a:pPr>
            <a:r>
              <a:rPr sz="3225" b="1">
                <a:solidFill>
                  <a:srgbClr val="152B45"/>
                </a:solidFill>
                <a:latin typeface="Arial"/>
                <a:ea typeface="Arial"/>
                <a:cs typeface="Arial"/>
              </a:rPr>
              <a:t>Prediction uses information available at checkout</a:t>
            </a:r>
          </a:p>
        </p:txBody>
      </p:sp>
      <p:sp>
        <p:nvSpPr>
          <p:cNvPr id="2" name="">
            <a:extLst xmlns:a="http://schemas.openxmlformats.org/drawingml/2006/main">
              <a:ext uri="{FF2B5EF4-FFF2-40B4-BE49-F238E27FC236}">
                <a16:creationId xmlns:a16="http://schemas.microsoft.com/office/drawing/2014/main" id="{8B83E1EB-044F-45C2-9F96-21392031BA19}"/>
              </a:ext>
            </a:extLst>
          </p:cNvPr>
          <p:cNvSpPr>
            <a:spLocks xmlns:a="http://schemas.openxmlformats.org/drawingml/2006/main" noGrp="1"/>
          </p:cNvSpPr>
          <p:nvPr/>
        </p:nvSpPr>
        <p:spPr>
          <a:xfrm xmlns:a="http://schemas.openxmlformats.org/drawingml/2006/main">
            <a:off x="10763250" y="6438900"/>
            <a:ext cx="819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4667A"/>
                </a:solidFill>
                <a:latin typeface="Arial"/>
                <a:ea typeface="Arial"/>
                <a:cs typeface="Arial"/>
              </a:defRPr>
            </a:defPPr>
          </a:lstStyle>
          <a:p xmlns:a="http://schemas.openxmlformats.org/drawingml/2006/main">
            <a:pPr>
              <a:defRPr sz="1050" b="0">
                <a:solidFill>
                  <a:srgbClr val="54667A"/>
                </a:solidFill>
                <a:latin typeface="Arial"/>
                <a:ea typeface="Arial"/>
                <a:cs typeface="Arial"/>
              </a:defRPr>
            </a:pPr>
            <a:r>
              <a:rPr sz="1050" b="0">
                <a:solidFill>
                  <a:srgbClr val="54667A"/>
                </a:solidFill>
                <a:latin typeface="Arial"/>
                <a:ea typeface="Arial"/>
                <a:cs typeface="Arial"/>
              </a:rPr>
              <a:t>8 / 10</a:t>
            </a:r>
          </a:p>
        </p:txBody>
      </p:sp>
      <p:sp>
        <p:nvSpPr>
          <p:cNvPr id="3" name="">
            <a:extLst xmlns:a="http://schemas.openxmlformats.org/drawingml/2006/main">
              <a:ext uri="{FF2B5EF4-FFF2-40B4-BE49-F238E27FC236}">
                <a16:creationId xmlns:a16="http://schemas.microsoft.com/office/drawing/2014/main" id="{A4DBFD4E-1B8B-4B30-99AD-31C2EE4772BF}"/>
              </a:ext>
            </a:extLst>
          </p:cNvPr>
          <p:cNvSpPr>
            <a:spLocks xmlns:a="http://schemas.openxmlformats.org/drawingml/2006/main" noGrp="1"/>
          </p:cNvSpPr>
          <p:nvPr/>
        </p:nvSpPr>
        <p:spPr>
          <a:xfrm xmlns:a="http://schemas.openxmlformats.org/drawingml/2006/main">
            <a:off x="609600" y="1714500"/>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245ECB"/>
                </a:solidFill>
                <a:latin typeface="Arial"/>
                <a:ea typeface="Arial"/>
                <a:cs typeface="Arial"/>
              </a:defRPr>
            </a:defPPr>
          </a:lstStyle>
          <a:p xmlns:a="http://schemas.openxmlformats.org/drawingml/2006/main">
            <a:pPr>
              <a:defRPr sz="2400" b="1">
                <a:solidFill>
                  <a:srgbClr val="245ECB"/>
                </a:solidFill>
                <a:latin typeface="Arial"/>
                <a:ea typeface="Arial"/>
                <a:cs typeface="Arial"/>
              </a:defRPr>
            </a:pPr>
            <a:r>
              <a:rPr sz="2400" b="1">
                <a:solidFill>
                  <a:srgbClr val="245ECB"/>
                </a:solidFill>
                <a:latin typeface="Arial"/>
                <a:ea typeface="Arial"/>
                <a:cs typeface="Arial"/>
              </a:rPr>
              <a:t>Order contents and promise</a:t>
            </a:r>
          </a:p>
        </p:txBody>
      </p:sp>
      <p:sp>
        <p:nvSpPr>
          <p:cNvPr id="4" name="">
            <a:extLst xmlns:a="http://schemas.openxmlformats.org/drawingml/2006/main">
              <a:ext uri="{FF2B5EF4-FFF2-40B4-BE49-F238E27FC236}">
                <a16:creationId xmlns:a16="http://schemas.microsoft.com/office/drawing/2014/main" id="{BEDCCB55-C184-496C-B999-FCDEDF3659FF}"/>
              </a:ext>
            </a:extLst>
          </p:cNvPr>
          <p:cNvSpPr>
            <a:spLocks xmlns:a="http://schemas.openxmlformats.org/drawingml/2006/main" noGrp="1"/>
          </p:cNvSpPr>
          <p:nvPr/>
        </p:nvSpPr>
        <p:spPr>
          <a:xfrm xmlns:a="http://schemas.openxmlformats.org/drawingml/2006/main">
            <a:off x="609600" y="2305050"/>
            <a:ext cx="51435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52B45"/>
                </a:solidFill>
                <a:latin typeface="Arial"/>
                <a:ea typeface="Arial"/>
                <a:cs typeface="Arial"/>
              </a:defRPr>
            </a:defPPr>
          </a:lstStyle>
          <a:p xmlns:a="http://schemas.openxmlformats.org/drawingml/2006/main">
            <a:pPr>
              <a:defRPr sz="2100" b="0">
                <a:solidFill>
                  <a:srgbClr val="152B45"/>
                </a:solidFill>
                <a:latin typeface="Arial"/>
                <a:ea typeface="Arial"/>
                <a:cs typeface="Arial"/>
              </a:defRPr>
            </a:pPr>
            <a:r>
              <a:rPr sz="2100" b="0">
                <a:solidFill>
                  <a:srgbClr val="152B45"/>
                </a:solidFill>
                <a:latin typeface="Arial"/>
                <a:ea typeface="Arial"/>
                <a:cs typeface="Arial"/>
              </a:rPr>
              <a:t>Value, freight, item/seller count, dimensions, category and promised lead time</a:t>
            </a:r>
          </a:p>
        </p:txBody>
      </p:sp>
      <p:sp>
        <p:nvSpPr>
          <p:cNvPr id="5" name="">
            <a:extLst xmlns:a="http://schemas.openxmlformats.org/drawingml/2006/main">
              <a:ext uri="{FF2B5EF4-FFF2-40B4-BE49-F238E27FC236}">
                <a16:creationId xmlns:a16="http://schemas.microsoft.com/office/drawing/2014/main" id="{FC310B98-3F23-4E15-8002-B96AAAD6D4B5}"/>
              </a:ext>
            </a:extLst>
          </p:cNvPr>
          <p:cNvSpPr>
            <a:spLocks xmlns:a="http://schemas.openxmlformats.org/drawingml/2006/main" noGrp="1"/>
          </p:cNvSpPr>
          <p:nvPr/>
        </p:nvSpPr>
        <p:spPr>
          <a:xfrm xmlns:a="http://schemas.openxmlformats.org/drawingml/2006/main">
            <a:off x="609600" y="38576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245ECB"/>
                </a:solidFill>
                <a:latin typeface="Arial"/>
                <a:ea typeface="Arial"/>
                <a:cs typeface="Arial"/>
              </a:defRPr>
            </a:defPPr>
          </a:lstStyle>
          <a:p xmlns:a="http://schemas.openxmlformats.org/drawingml/2006/main">
            <a:pPr>
              <a:defRPr sz="2400" b="1">
                <a:solidFill>
                  <a:srgbClr val="245ECB"/>
                </a:solidFill>
                <a:latin typeface="Arial"/>
                <a:ea typeface="Arial"/>
                <a:cs typeface="Arial"/>
              </a:defRPr>
            </a:pPr>
            <a:r>
              <a:rPr sz="2400" b="1">
                <a:solidFill>
                  <a:srgbClr val="245ECB"/>
                </a:solidFill>
                <a:latin typeface="Arial"/>
                <a:ea typeface="Arial"/>
                <a:cs typeface="Arial"/>
              </a:rPr>
              <a:t>Location and previous behavior</a:t>
            </a:r>
          </a:p>
        </p:txBody>
      </p:sp>
      <p:sp>
        <p:nvSpPr>
          <p:cNvPr id="6" name="">
            <a:extLst xmlns:a="http://schemas.openxmlformats.org/drawingml/2006/main">
              <a:ext uri="{FF2B5EF4-FFF2-40B4-BE49-F238E27FC236}">
                <a16:creationId xmlns:a16="http://schemas.microsoft.com/office/drawing/2014/main" id="{168045EC-32F1-4AB8-8870-92B10F9550E9}"/>
              </a:ext>
            </a:extLst>
          </p:cNvPr>
          <p:cNvSpPr>
            <a:spLocks xmlns:a="http://schemas.openxmlformats.org/drawingml/2006/main" noGrp="1"/>
          </p:cNvSpPr>
          <p:nvPr/>
        </p:nvSpPr>
        <p:spPr>
          <a:xfrm xmlns:a="http://schemas.openxmlformats.org/drawingml/2006/main">
            <a:off x="609600" y="4448175"/>
            <a:ext cx="51435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52B45"/>
                </a:solidFill>
                <a:latin typeface="Arial"/>
                <a:ea typeface="Arial"/>
                <a:cs typeface="Arial"/>
              </a:defRPr>
            </a:defPPr>
          </a:lstStyle>
          <a:p xmlns:a="http://schemas.openxmlformats.org/drawingml/2006/main">
            <a:pPr>
              <a:defRPr sz="2100" b="0">
                <a:solidFill>
                  <a:srgbClr val="152B45"/>
                </a:solidFill>
                <a:latin typeface="Arial"/>
                <a:ea typeface="Arial"/>
                <a:cs typeface="Arial"/>
              </a:defRPr>
            </a:pPr>
            <a:r>
              <a:rPr sz="2100" b="0">
                <a:solidFill>
                  <a:srgbClr val="152B45"/>
                </a:solidFill>
                <a:latin typeface="Arial"/>
                <a:ea typeface="Arial"/>
                <a:cs typeface="Arial"/>
              </a:rPr>
              <a:t>Customer/seller state, route distance and strictly earlier customer orders/spend</a:t>
            </a:r>
          </a:p>
        </p:txBody>
      </p:sp>
      <p:sp>
        <p:nvSpPr>
          <p:cNvPr id="7" name="">
            <a:extLst xmlns:a="http://schemas.openxmlformats.org/drawingml/2006/main">
              <a:ext uri="{FF2B5EF4-FFF2-40B4-BE49-F238E27FC236}">
                <a16:creationId xmlns:a16="http://schemas.microsoft.com/office/drawing/2014/main" id="{EE4F4957-09CA-4360-84F9-DE1979DCF175}"/>
              </a:ext>
            </a:extLst>
          </p:cNvPr>
          <p:cNvSpPr>
            <a:spLocks xmlns:a="http://schemas.openxmlformats.org/drawingml/2006/main" noGrp="1"/>
          </p:cNvSpPr>
          <p:nvPr/>
        </p:nvSpPr>
        <p:spPr>
          <a:xfrm xmlns:a="http://schemas.openxmlformats.org/drawingml/2006/main">
            <a:off x="6800850" y="1714500"/>
            <a:ext cx="471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52B45"/>
                </a:solidFill>
                <a:latin typeface="Arial"/>
                <a:ea typeface="Arial"/>
                <a:cs typeface="Arial"/>
              </a:defRPr>
            </a:defPPr>
          </a:lstStyle>
          <a:p xmlns:a="http://schemas.openxmlformats.org/drawingml/2006/main">
            <a:pPr>
              <a:defRPr sz="2400" b="1">
                <a:solidFill>
                  <a:srgbClr val="152B45"/>
                </a:solidFill>
                <a:latin typeface="Arial"/>
                <a:ea typeface="Arial"/>
                <a:cs typeface="Arial"/>
              </a:defRPr>
            </a:pPr>
            <a:r>
              <a:rPr sz="2400" b="1">
                <a:solidFill>
                  <a:srgbClr val="152B45"/>
                </a:solidFill>
                <a:latin typeface="Arial"/>
                <a:ea typeface="Arial"/>
                <a:cs typeface="Arial"/>
              </a:rPr>
              <a:t>Temporal evaluation</a:t>
            </a:r>
          </a:p>
        </p:txBody>
      </p:sp>
      <p:sp>
        <p:nvSpPr>
          <p:cNvPr id="8" name="">
            <a:extLst xmlns:a="http://schemas.openxmlformats.org/drawingml/2006/main">
              <a:ext uri="{FF2B5EF4-FFF2-40B4-BE49-F238E27FC236}">
                <a16:creationId xmlns:a16="http://schemas.microsoft.com/office/drawing/2014/main" id="{A9468053-1E77-4671-AF9A-99B2981673DC}"/>
              </a:ext>
            </a:extLst>
          </p:cNvPr>
          <p:cNvSpPr>
            <a:spLocks xmlns:a="http://schemas.openxmlformats.org/drawingml/2006/main" noGrp="1"/>
          </p:cNvSpPr>
          <p:nvPr/>
        </p:nvSpPr>
        <p:spPr>
          <a:xfrm xmlns:a="http://schemas.openxmlformats.org/drawingml/2006/main">
            <a:off x="6800850" y="2352675"/>
            <a:ext cx="4714875"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52B45"/>
                </a:solidFill>
                <a:latin typeface="Arial"/>
                <a:ea typeface="Arial"/>
                <a:cs typeface="Arial"/>
              </a:defRPr>
            </a:defPPr>
          </a:lstStyle>
          <a:p xmlns:a="http://schemas.openxmlformats.org/drawingml/2006/main">
            <a:pPr>
              <a:defRPr sz="2175" b="0">
                <a:solidFill>
                  <a:srgbClr val="152B45"/>
                </a:solidFill>
                <a:latin typeface="Arial"/>
                <a:ea typeface="Arial"/>
                <a:cs typeface="Arial"/>
              </a:defRPr>
            </a:pPr>
            <a:r>
              <a:rPr sz="2175" b="0">
                <a:solidFill>
                  <a:srgbClr val="152B45"/>
                </a:solidFill>
                <a:latin typeface="Arial"/>
                <a:ea typeface="Arial"/>
                <a:cs typeface="Arial"/>
              </a:rPr>
              <a:t>Train: before January 2018</a:t>
            </a:r>
          </a:p>
          <a:p xmlns:a="http://schemas.openxmlformats.org/drawingml/2006/main">
            <a:pPr>
              <a:defRPr sz="2175" b="0">
                <a:solidFill>
                  <a:srgbClr val="152B45"/>
                </a:solidFill>
                <a:latin typeface="Arial"/>
                <a:ea typeface="Arial"/>
                <a:cs typeface="Arial"/>
              </a:defRPr>
            </a:pPr>
            <a:r>
              <a:rPr sz="2175" b="0">
                <a:solidFill>
                  <a:srgbClr val="152B45"/>
                </a:solidFill>
                <a:latin typeface="Arial"/>
                <a:ea typeface="Arial"/>
                <a:cs typeface="Arial"/>
              </a:rPr>
              <a:t>Validate: January-March</a:t>
            </a:r>
          </a:p>
          <a:p xmlns:a="http://schemas.openxmlformats.org/drawingml/2006/main">
            <a:pPr>
              <a:defRPr sz="2175" b="0">
                <a:solidFill>
                  <a:srgbClr val="152B45"/>
                </a:solidFill>
                <a:latin typeface="Arial"/>
                <a:ea typeface="Arial"/>
                <a:cs typeface="Arial"/>
              </a:defRPr>
            </a:pPr>
            <a:r>
              <a:rPr sz="2175" b="0">
                <a:solidFill>
                  <a:srgbClr val="152B45"/>
                </a:solidFill>
                <a:latin typeface="Arial"/>
                <a:ea typeface="Arial"/>
                <a:cs typeface="Arial"/>
              </a:rPr>
              <a:t>Diagnose: April-June</a:t>
            </a:r>
          </a:p>
          <a:p xmlns:a="http://schemas.openxmlformats.org/drawingml/2006/main">
            <a:pPr>
              <a:defRPr sz="2175" b="0">
                <a:solidFill>
                  <a:srgbClr val="152B45"/>
                </a:solidFill>
                <a:latin typeface="Arial"/>
                <a:ea typeface="Arial"/>
                <a:cs typeface="Arial"/>
              </a:defRPr>
            </a:pPr>
            <a:r>
              <a:rPr sz="2175" b="0">
                <a:solidFill>
                  <a:srgbClr val="152B45"/>
                </a:solidFill>
                <a:latin typeface="Arial"/>
                <a:ea typeface="Arial"/>
                <a:cs typeface="Arial"/>
              </a:rPr>
              <a:t>Final test: July</a:t>
            </a:r>
          </a:p>
        </p:txBody>
      </p:sp>
      <p:sp>
        <p:nvSpPr>
          <p:cNvPr id="9" name="">
            <a:extLst xmlns:a="http://schemas.openxmlformats.org/drawingml/2006/main">
              <a:ext uri="{FF2B5EF4-FFF2-40B4-BE49-F238E27FC236}">
                <a16:creationId xmlns:a16="http://schemas.microsoft.com/office/drawing/2014/main" id="{3DEF6E2B-A32C-4B87-B921-9B95CE77FE0B}"/>
              </a:ext>
            </a:extLst>
          </p:cNvPr>
          <p:cNvSpPr>
            <a:spLocks xmlns:a="http://schemas.openxmlformats.org/drawingml/2006/main" noGrp="1"/>
          </p:cNvSpPr>
          <p:nvPr/>
        </p:nvSpPr>
        <p:spPr>
          <a:xfrm xmlns:a="http://schemas.openxmlformats.org/drawingml/2006/main">
            <a:off x="6800850" y="4610100"/>
            <a:ext cx="47148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52B45"/>
                </a:solidFill>
                <a:latin typeface="Arial"/>
                <a:ea typeface="Arial"/>
                <a:cs typeface="Arial"/>
              </a:defRPr>
            </a:defPPr>
          </a:lstStyle>
          <a:p xmlns:a="http://schemas.openxmlformats.org/drawingml/2006/main">
            <a:pPr>
              <a:defRPr sz="1950" b="0">
                <a:solidFill>
                  <a:srgbClr val="152B45"/>
                </a:solidFill>
                <a:latin typeface="Arial"/>
                <a:ea typeface="Arial"/>
                <a:cs typeface="Arial"/>
              </a:defRPr>
            </a:pPr>
            <a:r>
              <a:rPr sz="1950" b="0">
                <a:solidFill>
                  <a:srgbClr val="152B45"/>
                </a:solidFill>
                <a:latin typeface="Arial"/>
                <a:ea typeface="Arial"/>
                <a:cs typeface="Arial"/>
              </a:rPr>
              <a:t>Labels must be observed before each training or validation cutoff.</a:t>
            </a:r>
          </a:p>
        </p:txBody>
      </p:sp>
      <p:sp>
        <p:nvSpPr>
          <p:cNvPr id="10" name="">
            <a:extLst xmlns:a="http://schemas.openxmlformats.org/drawingml/2006/main">
              <a:ext uri="{FF2B5EF4-FFF2-40B4-BE49-F238E27FC236}">
                <a16:creationId xmlns:a16="http://schemas.microsoft.com/office/drawing/2014/main" id="{93D8E5B9-F301-4D0D-B20A-6072DB03C8F3}"/>
              </a:ext>
            </a:extLst>
          </p:cNvPr>
          <p:cNvSpPr>
            <a:spLocks xmlns:a="http://schemas.openxmlformats.org/drawingml/2006/main" noGrp="1"/>
          </p:cNvSpPr>
          <p:nvPr/>
        </p:nvSpPr>
        <p:spPr>
          <a:xfrm xmlns:a="http://schemas.openxmlformats.org/drawingml/2006/main">
            <a:off x="609600" y="5762625"/>
            <a:ext cx="10858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007D7C"/>
                </a:solidFill>
                <a:latin typeface="Arial"/>
                <a:ea typeface="Arial"/>
                <a:cs typeface="Arial"/>
              </a:defRPr>
            </a:defPPr>
          </a:lstStyle>
          <a:p xmlns:a="http://schemas.openxmlformats.org/drawingml/2006/main">
            <a:pPr>
              <a:defRPr sz="1875" b="1">
                <a:solidFill>
                  <a:srgbClr val="007D7C"/>
                </a:solidFill>
                <a:latin typeface="Arial"/>
                <a:ea typeface="Arial"/>
                <a:cs typeface="Arial"/>
              </a:defRPr>
            </a:pPr>
            <a:r>
              <a:rPr sz="1875" b="1">
                <a:solidFill>
                  <a:srgbClr val="007D7C"/>
                </a:solidFill>
                <a:latin typeface="Arial"/>
                <a:ea typeface="Arial"/>
                <a:cs typeface="Arial"/>
              </a:rPr>
              <a:t>Actual delivery, reviews, order status and future outcome aggregates stay outside X.</a:t>
            </a:r>
          </a:p>
        </p:txBody>
      </p:sp>
    </p:spTree>
    <p:extLst>
      <p:ext uri="{BB962C8B-B14F-4D97-AF65-F5344CB8AC3E}">
        <p14:creationId xmlns:p14="http://schemas.microsoft.com/office/powerpoint/2010/main" val="82910458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FD49ACB-7FA0-4ECB-A2E7-567DAFA04613}"/>
              </a:ext>
            </a:extLst>
          </p:cNvPr>
          <p:cNvSpPr>
            <a:spLocks xmlns:a="http://schemas.openxmlformats.org/drawingml/2006/main" noGrp="1"/>
          </p:cNvSpPr>
          <p:nvPr/>
        </p:nvSpPr>
        <p:spPr>
          <a:xfrm xmlns:a="http://schemas.openxmlformats.org/drawingml/2006/main">
            <a:off x="609600" y="428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52B45"/>
                </a:solidFill>
                <a:latin typeface="Arial"/>
                <a:ea typeface="Arial"/>
                <a:cs typeface="Arial"/>
              </a:defRPr>
            </a:defPPr>
          </a:lstStyle>
          <a:p xmlns:a="http://schemas.openxmlformats.org/drawingml/2006/main">
            <a:pPr>
              <a:defRPr sz="3225" b="1">
                <a:solidFill>
                  <a:srgbClr val="152B45"/>
                </a:solidFill>
                <a:latin typeface="Arial"/>
                <a:ea typeface="Arial"/>
                <a:cs typeface="Arial"/>
              </a:defRPr>
            </a:pPr>
            <a:r>
              <a:rPr sz="3225" b="1">
                <a:solidFill>
                  <a:srgbClr val="152B45"/>
                </a:solidFill>
                <a:latin typeface="Arial"/>
                <a:ea typeface="Arial"/>
                <a:cs typeface="Arial"/>
              </a:rPr>
              <a:t>Prediction helps rank risk, with substantial uncertainty</a:t>
            </a:r>
          </a:p>
        </p:txBody>
      </p:sp>
      <p:sp>
        <p:nvSpPr>
          <p:cNvPr id="2" name="">
            <a:extLst xmlns:a="http://schemas.openxmlformats.org/drawingml/2006/main">
              <a:ext uri="{FF2B5EF4-FFF2-40B4-BE49-F238E27FC236}">
                <a16:creationId xmlns:a16="http://schemas.microsoft.com/office/drawing/2014/main" id="{DDE061D9-B21A-4B7E-9F75-FF7DCC95C97D}"/>
              </a:ext>
            </a:extLst>
          </p:cNvPr>
          <p:cNvSpPr>
            <a:spLocks xmlns:a="http://schemas.openxmlformats.org/drawingml/2006/main" noGrp="1"/>
          </p:cNvSpPr>
          <p:nvPr/>
        </p:nvSpPr>
        <p:spPr>
          <a:xfrm xmlns:a="http://schemas.openxmlformats.org/drawingml/2006/main">
            <a:off x="10763250" y="6438900"/>
            <a:ext cx="819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4667A"/>
                </a:solidFill>
                <a:latin typeface="Arial"/>
                <a:ea typeface="Arial"/>
                <a:cs typeface="Arial"/>
              </a:defRPr>
            </a:defPPr>
          </a:lstStyle>
          <a:p xmlns:a="http://schemas.openxmlformats.org/drawingml/2006/main">
            <a:pPr>
              <a:defRPr sz="1050" b="0">
                <a:solidFill>
                  <a:srgbClr val="54667A"/>
                </a:solidFill>
                <a:latin typeface="Arial"/>
                <a:ea typeface="Arial"/>
                <a:cs typeface="Arial"/>
              </a:defRPr>
            </a:pPr>
            <a:r>
              <a:rPr sz="1050" b="0">
                <a:solidFill>
                  <a:srgbClr val="54667A"/>
                </a:solidFill>
                <a:latin typeface="Arial"/>
                <a:ea typeface="Arial"/>
                <a:cs typeface="Arial"/>
              </a:rPr>
              <a:t>9 / 10</a:t>
            </a:r>
          </a:p>
        </p:txBody>
      </p:sp>
      <p:graphicFrame>
        <p:nvGraphicFramePr>
          <p:cNvPr id="3" name="">
            <a:extLst xmlns:a="http://schemas.openxmlformats.org/drawingml/2006/main">
              <a:ext uri="{FF2B5EF4-FFF2-40B4-BE49-F238E27FC236}">
                <a16:creationId xmlns:a16="http://schemas.microsoft.com/office/drawing/2014/main" id="{622C2271-BCB0-4CCB-AC2F-120FDDA065A0}"/>
              </a:ext>
            </a:extLst>
          </p:cNvPr>
          <p:cNvGraphicFramePr/>
          <p:nvPr/>
        </p:nvGraphicFramePr>
        <p:xfrm>
          <a:off xmlns:a="http://schemas.openxmlformats.org/drawingml/2006/main" x="609600" y="1714500"/>
          <a:ext xmlns:a="http://schemas.openxmlformats.org/drawingml/2006/main" cx="10972800" cy="2286000"/>
        </p:xfrm>
        <a:graphic xmlns:a="http://schemas.openxmlformats.org/drawingml/2006/main">
          <a:graphicData uri="http://schemas.openxmlformats.org/drawingml/2006/table">
            <a:tbl>
              <a:tblPr/>
              <a:tblGrid>
                <a:gridCol w="3333750"/>
                <a:gridCol w="1524000"/>
                <a:gridCol w="1524000"/>
                <a:gridCol w="1333500"/>
                <a:gridCol w="1619250"/>
                <a:gridCol w="1638300"/>
              </a:tblGrid>
              <a:tr h="571500">
                <a:tc>
                  <a:txBody>
                    <a:bodyPr lIns="114300" tIns="114300" rIns="114300" bIns="114300"/>
                    <a:lstStyle/>
                    <a:p>
                      <a:r>
                        <a:rPr sz="1425" b="1">
                          <a:solidFill>
                            <a:srgbClr val="FFFFFF"/>
                          </a:solidFill>
                          <a:latin typeface="Arial"/>
                          <a:ea typeface="Arial"/>
                          <a:cs typeface="Arial"/>
                        </a:rPr>
                        <a:t>July test model</a:t>
                      </a:r>
                    </a:p>
                  </a:txBody>
                  <a:tcPr marL="91440" marR="91440" marT="45720" marB="45720" anchor="ctr">
                    <a:solidFill>
                      <a:srgbClr val="152B45"/>
                    </a:solidFill>
                  </a:tcPr>
                </a:tc>
                <a:tc>
                  <a:txBody>
                    <a:bodyPr lIns="114300" tIns="114300" rIns="114300" bIns="114300"/>
                    <a:lstStyle/>
                    <a:p>
                      <a:r>
                        <a:rPr sz="1425" b="1">
                          <a:solidFill>
                            <a:srgbClr val="FFFFFF"/>
                          </a:solidFill>
                          <a:latin typeface="Arial"/>
                          <a:ea typeface="Arial"/>
                          <a:cs typeface="Arial"/>
                        </a:rPr>
                        <a:t>Precision</a:t>
                      </a:r>
                    </a:p>
                  </a:txBody>
                  <a:tcPr marL="91440" marR="91440" marT="45720" marB="45720" anchor="ctr">
                    <a:solidFill>
                      <a:srgbClr val="152B45"/>
                    </a:solidFill>
                  </a:tcPr>
                </a:tc>
                <a:tc>
                  <a:txBody>
                    <a:bodyPr lIns="114300" tIns="114300" rIns="114300" bIns="114300"/>
                    <a:lstStyle/>
                    <a:p>
                      <a:r>
                        <a:rPr sz="1425" b="1">
                          <a:solidFill>
                            <a:srgbClr val="FFFFFF"/>
                          </a:solidFill>
                          <a:latin typeface="Arial"/>
                          <a:ea typeface="Arial"/>
                          <a:cs typeface="Arial"/>
                        </a:rPr>
                        <a:t>Recall</a:t>
                      </a:r>
                    </a:p>
                  </a:txBody>
                  <a:tcPr marL="91440" marR="91440" marT="45720" marB="45720" anchor="ctr">
                    <a:solidFill>
                      <a:srgbClr val="152B45"/>
                    </a:solidFill>
                  </a:tcPr>
                </a:tc>
                <a:tc>
                  <a:txBody>
                    <a:bodyPr lIns="114300" tIns="114300" rIns="114300" bIns="114300"/>
                    <a:lstStyle/>
                    <a:p>
                      <a:r>
                        <a:rPr sz="1425" b="1">
                          <a:solidFill>
                            <a:srgbClr val="FFFFFF"/>
                          </a:solidFill>
                          <a:latin typeface="Arial"/>
                          <a:ea typeface="Arial"/>
                          <a:cs typeface="Arial"/>
                        </a:rPr>
                        <a:t>F1</a:t>
                      </a:r>
                    </a:p>
                  </a:txBody>
                  <a:tcPr marL="91440" marR="91440" marT="45720" marB="45720" anchor="ctr">
                    <a:solidFill>
                      <a:srgbClr val="152B45"/>
                    </a:solidFill>
                  </a:tcPr>
                </a:tc>
                <a:tc>
                  <a:txBody>
                    <a:bodyPr lIns="114300" tIns="114300" rIns="114300" bIns="114300"/>
                    <a:lstStyle/>
                    <a:p>
                      <a:r>
                        <a:rPr sz="1425" b="1">
                          <a:solidFill>
                            <a:srgbClr val="FFFFFF"/>
                          </a:solidFill>
                          <a:latin typeface="Arial"/>
                          <a:ea typeface="Arial"/>
                          <a:cs typeface="Arial"/>
                        </a:rPr>
                        <a:t>ROC-AUC</a:t>
                      </a:r>
                    </a:p>
                  </a:txBody>
                  <a:tcPr marL="91440" marR="91440" marT="45720" marB="45720" anchor="ctr">
                    <a:solidFill>
                      <a:srgbClr val="152B45"/>
                    </a:solidFill>
                  </a:tcPr>
                </a:tc>
                <a:tc>
                  <a:txBody>
                    <a:bodyPr lIns="114300" tIns="114300" rIns="114300" bIns="114300"/>
                    <a:lstStyle/>
                    <a:p>
                      <a:r>
                        <a:rPr sz="1425" b="1">
                          <a:solidFill>
                            <a:srgbClr val="FFFFFF"/>
                          </a:solidFill>
                          <a:latin typeface="Arial"/>
                          <a:ea typeface="Arial"/>
                          <a:cs typeface="Arial"/>
                        </a:rPr>
                        <a:t>Avg. precision</a:t>
                      </a:r>
                    </a:p>
                  </a:txBody>
                  <a:tcPr marL="91440" marR="91440" marT="45720" marB="45720" anchor="ctr">
                    <a:solidFill>
                      <a:srgbClr val="152B45"/>
                    </a:solidFill>
                  </a:tcPr>
                </a:tc>
              </a:tr>
              <a:tr h="571500">
                <a:tc>
                  <a:txBody>
                    <a:bodyPr lIns="114300" tIns="114300" rIns="114300" bIns="114300"/>
                    <a:lstStyle/>
                    <a:p>
                      <a:r>
                        <a:rPr sz="1575" b="0">
                          <a:solidFill>
                            <a:srgbClr val="152B45"/>
                          </a:solidFill>
                          <a:latin typeface="Arial"/>
                          <a:ea typeface="Arial"/>
                          <a:cs typeface="Arial"/>
                        </a:rPr>
                        <a:t>Logistic regression *</a:t>
                      </a:r>
                    </a:p>
                  </a:txBody>
                  <a:tcPr marL="91440" marR="91440" marT="45720" marB="45720" anchor="ctr">
                    <a:solidFill>
                      <a:srgbClr val="FFFFFF"/>
                    </a:solidFill>
                  </a:tcPr>
                </a:tc>
                <a:tc>
                  <a:txBody>
                    <a:bodyPr lIns="114300" tIns="114300" rIns="114300" bIns="114300"/>
                    <a:lstStyle/>
                    <a:p>
                      <a:r>
                        <a:rPr sz="1575" b="0">
                          <a:solidFill>
                            <a:srgbClr val="152B45"/>
                          </a:solidFill>
                          <a:latin typeface="Arial"/>
                          <a:ea typeface="Arial"/>
                          <a:cs typeface="Arial"/>
                        </a:rPr>
                        <a:t>10.3%</a:t>
                      </a:r>
                    </a:p>
                  </a:txBody>
                  <a:tcPr marL="91440" marR="91440" marT="45720" marB="45720" anchor="ctr">
                    <a:solidFill>
                      <a:srgbClr val="FFFFFF"/>
                    </a:solidFill>
                  </a:tcPr>
                </a:tc>
                <a:tc>
                  <a:txBody>
                    <a:bodyPr lIns="114300" tIns="114300" rIns="114300" bIns="114300"/>
                    <a:lstStyle/>
                    <a:p>
                      <a:r>
                        <a:rPr sz="1575" b="0">
                          <a:solidFill>
                            <a:srgbClr val="152B45"/>
                          </a:solidFill>
                          <a:latin typeface="Arial"/>
                          <a:ea typeface="Arial"/>
                          <a:cs typeface="Arial"/>
                        </a:rPr>
                        <a:t>23.6%</a:t>
                      </a:r>
                    </a:p>
                  </a:txBody>
                  <a:tcPr marL="91440" marR="91440" marT="45720" marB="45720" anchor="ctr">
                    <a:solidFill>
                      <a:srgbClr val="FFFFFF"/>
                    </a:solidFill>
                  </a:tcPr>
                </a:tc>
                <a:tc>
                  <a:txBody>
                    <a:bodyPr lIns="114300" tIns="114300" rIns="114300" bIns="114300"/>
                    <a:lstStyle/>
                    <a:p>
                      <a:r>
                        <a:rPr sz="1575" b="0">
                          <a:solidFill>
                            <a:srgbClr val="152B45"/>
                          </a:solidFill>
                          <a:latin typeface="Arial"/>
                          <a:ea typeface="Arial"/>
                          <a:cs typeface="Arial"/>
                        </a:rPr>
                        <a:t>0.143</a:t>
                      </a:r>
                    </a:p>
                  </a:txBody>
                  <a:tcPr marL="91440" marR="91440" marT="45720" marB="45720" anchor="ctr">
                    <a:solidFill>
                      <a:srgbClr val="FFFFFF"/>
                    </a:solidFill>
                  </a:tcPr>
                </a:tc>
                <a:tc>
                  <a:txBody>
                    <a:bodyPr lIns="114300" tIns="114300" rIns="114300" bIns="114300"/>
                    <a:lstStyle/>
                    <a:p>
                      <a:r>
                        <a:rPr sz="1575" b="0">
                          <a:solidFill>
                            <a:srgbClr val="152B45"/>
                          </a:solidFill>
                          <a:latin typeface="Arial"/>
                          <a:ea typeface="Arial"/>
                          <a:cs typeface="Arial"/>
                        </a:rPr>
                        <a:t>0.690</a:t>
                      </a:r>
                    </a:p>
                  </a:txBody>
                  <a:tcPr marL="91440" marR="91440" marT="45720" marB="45720" anchor="ctr">
                    <a:solidFill>
                      <a:srgbClr val="FFFFFF"/>
                    </a:solidFill>
                  </a:tcPr>
                </a:tc>
                <a:tc>
                  <a:txBody>
                    <a:bodyPr lIns="114300" tIns="114300" rIns="114300" bIns="114300"/>
                    <a:lstStyle/>
                    <a:p>
                      <a:r>
                        <a:rPr sz="1575" b="0">
                          <a:solidFill>
                            <a:srgbClr val="152B45"/>
                          </a:solidFill>
                          <a:latin typeface="Arial"/>
                          <a:ea typeface="Arial"/>
                          <a:cs typeface="Arial"/>
                        </a:rPr>
                        <a:t>0.097</a:t>
                      </a:r>
                    </a:p>
                  </a:txBody>
                  <a:tcPr marL="91440" marR="91440" marT="45720" marB="45720" anchor="ctr">
                    <a:solidFill>
                      <a:srgbClr val="FFFFFF"/>
                    </a:solidFill>
                  </a:tcPr>
                </a:tc>
              </a:tr>
              <a:tr h="571500">
                <a:tc>
                  <a:txBody>
                    <a:bodyPr lIns="114300" tIns="114300" rIns="114300" bIns="114300"/>
                    <a:lstStyle/>
                    <a:p>
                      <a:r>
                        <a:rPr sz="1575" b="0">
                          <a:solidFill>
                            <a:srgbClr val="152B45"/>
                          </a:solidFill>
                          <a:latin typeface="Arial"/>
                          <a:ea typeface="Arial"/>
                          <a:cs typeface="Arial"/>
                        </a:rPr>
                        <a:t>Random forest</a:t>
                      </a:r>
                    </a:p>
                  </a:txBody>
                  <a:tcPr marL="91440" marR="91440" marT="45720" marB="45720" anchor="ctr">
                    <a:solidFill>
                      <a:srgbClr val="EAF0F8"/>
                    </a:solidFill>
                  </a:tcPr>
                </a:tc>
                <a:tc>
                  <a:txBody>
                    <a:bodyPr lIns="114300" tIns="114300" rIns="114300" bIns="114300"/>
                    <a:lstStyle/>
                    <a:p>
                      <a:r>
                        <a:rPr sz="1575" b="0">
                          <a:solidFill>
                            <a:srgbClr val="152B45"/>
                          </a:solidFill>
                          <a:latin typeface="Arial"/>
                          <a:ea typeface="Arial"/>
                          <a:cs typeface="Arial"/>
                        </a:rPr>
                        <a:t>9.7%</a:t>
                      </a:r>
                    </a:p>
                  </a:txBody>
                  <a:tcPr marL="91440" marR="91440" marT="45720" marB="45720" anchor="ctr">
                    <a:solidFill>
                      <a:srgbClr val="EAF0F8"/>
                    </a:solidFill>
                  </a:tcPr>
                </a:tc>
                <a:tc>
                  <a:txBody>
                    <a:bodyPr lIns="114300" tIns="114300" rIns="114300" bIns="114300"/>
                    <a:lstStyle/>
                    <a:p>
                      <a:r>
                        <a:rPr sz="1575" b="0">
                          <a:solidFill>
                            <a:srgbClr val="152B45"/>
                          </a:solidFill>
                          <a:latin typeface="Arial"/>
                          <a:ea typeface="Arial"/>
                          <a:cs typeface="Arial"/>
                        </a:rPr>
                        <a:t>49.6%</a:t>
                      </a:r>
                    </a:p>
                  </a:txBody>
                  <a:tcPr marL="91440" marR="91440" marT="45720" marB="45720" anchor="ctr">
                    <a:solidFill>
                      <a:srgbClr val="EAF0F8"/>
                    </a:solidFill>
                  </a:tcPr>
                </a:tc>
                <a:tc>
                  <a:txBody>
                    <a:bodyPr lIns="114300" tIns="114300" rIns="114300" bIns="114300"/>
                    <a:lstStyle/>
                    <a:p>
                      <a:r>
                        <a:rPr sz="1575" b="0">
                          <a:solidFill>
                            <a:srgbClr val="152B45"/>
                          </a:solidFill>
                          <a:latin typeface="Arial"/>
                          <a:ea typeface="Arial"/>
                          <a:cs typeface="Arial"/>
                        </a:rPr>
                        <a:t>0.162</a:t>
                      </a:r>
                    </a:p>
                  </a:txBody>
                  <a:tcPr marL="91440" marR="91440" marT="45720" marB="45720" anchor="ctr">
                    <a:solidFill>
                      <a:srgbClr val="EAF0F8"/>
                    </a:solidFill>
                  </a:tcPr>
                </a:tc>
                <a:tc>
                  <a:txBody>
                    <a:bodyPr lIns="114300" tIns="114300" rIns="114300" bIns="114300"/>
                    <a:lstStyle/>
                    <a:p>
                      <a:r>
                        <a:rPr sz="1575" b="0">
                          <a:solidFill>
                            <a:srgbClr val="152B45"/>
                          </a:solidFill>
                          <a:latin typeface="Arial"/>
                          <a:ea typeface="Arial"/>
                          <a:cs typeface="Arial"/>
                        </a:rPr>
                        <a:t>0.691</a:t>
                      </a:r>
                    </a:p>
                  </a:txBody>
                  <a:tcPr marL="91440" marR="91440" marT="45720" marB="45720" anchor="ctr">
                    <a:solidFill>
                      <a:srgbClr val="EAF0F8"/>
                    </a:solidFill>
                  </a:tcPr>
                </a:tc>
                <a:tc>
                  <a:txBody>
                    <a:bodyPr lIns="114300" tIns="114300" rIns="114300" bIns="114300"/>
                    <a:lstStyle/>
                    <a:p>
                      <a:r>
                        <a:rPr sz="1575" b="0">
                          <a:solidFill>
                            <a:srgbClr val="152B45"/>
                          </a:solidFill>
                          <a:latin typeface="Arial"/>
                          <a:ea typeface="Arial"/>
                          <a:cs typeface="Arial"/>
                        </a:rPr>
                        <a:t>0.102</a:t>
                      </a:r>
                    </a:p>
                  </a:txBody>
                  <a:tcPr marL="91440" marR="91440" marT="45720" marB="45720" anchor="ctr">
                    <a:solidFill>
                      <a:srgbClr val="EAF0F8"/>
                    </a:solidFill>
                  </a:tcPr>
                </a:tc>
              </a:tr>
              <a:tr h="571500">
                <a:tc>
                  <a:txBody>
                    <a:bodyPr lIns="114300" tIns="114300" rIns="114300" bIns="114300"/>
                    <a:lstStyle/>
                    <a:p>
                      <a:r>
                        <a:rPr sz="1575" b="0">
                          <a:solidFill>
                            <a:srgbClr val="152B45"/>
                          </a:solidFill>
                          <a:latin typeface="Arial"/>
                          <a:ea typeface="Arial"/>
                          <a:cs typeface="Arial"/>
                        </a:rPr>
                        <a:t>Always on time</a:t>
                      </a:r>
                    </a:p>
                  </a:txBody>
                  <a:tcPr marL="91440" marR="91440" marT="45720" marB="45720" anchor="ctr">
                    <a:solidFill>
                      <a:srgbClr val="FFFFFF"/>
                    </a:solidFill>
                  </a:tcPr>
                </a:tc>
                <a:tc>
                  <a:txBody>
                    <a:bodyPr lIns="114300" tIns="114300" rIns="114300" bIns="114300"/>
                    <a:lstStyle/>
                    <a:p>
                      <a:r>
                        <a:rPr sz="1575" b="0">
                          <a:solidFill>
                            <a:srgbClr val="152B45"/>
                          </a:solidFill>
                          <a:latin typeface="Arial"/>
                          <a:ea typeface="Arial"/>
                          <a:cs typeface="Arial"/>
                        </a:rPr>
                        <a:t>0.0%</a:t>
                      </a:r>
                    </a:p>
                  </a:txBody>
                  <a:tcPr marL="91440" marR="91440" marT="45720" marB="45720" anchor="ctr">
                    <a:solidFill>
                      <a:srgbClr val="FFFFFF"/>
                    </a:solidFill>
                  </a:tcPr>
                </a:tc>
                <a:tc>
                  <a:txBody>
                    <a:bodyPr lIns="114300" tIns="114300" rIns="114300" bIns="114300"/>
                    <a:lstStyle/>
                    <a:p>
                      <a:r>
                        <a:rPr sz="1575" b="0">
                          <a:solidFill>
                            <a:srgbClr val="152B45"/>
                          </a:solidFill>
                          <a:latin typeface="Arial"/>
                          <a:ea typeface="Arial"/>
                          <a:cs typeface="Arial"/>
                        </a:rPr>
                        <a:t>0.0%</a:t>
                      </a:r>
                    </a:p>
                  </a:txBody>
                  <a:tcPr marL="91440" marR="91440" marT="45720" marB="45720" anchor="ctr">
                    <a:solidFill>
                      <a:srgbClr val="FFFFFF"/>
                    </a:solidFill>
                  </a:tcPr>
                </a:tc>
                <a:tc>
                  <a:txBody>
                    <a:bodyPr lIns="114300" tIns="114300" rIns="114300" bIns="114300"/>
                    <a:lstStyle/>
                    <a:p>
                      <a:r>
                        <a:rPr sz="1575" b="0">
                          <a:solidFill>
                            <a:srgbClr val="152B45"/>
                          </a:solidFill>
                          <a:latin typeface="Arial"/>
                          <a:ea typeface="Arial"/>
                          <a:cs typeface="Arial"/>
                        </a:rPr>
                        <a:t>0.000</a:t>
                      </a:r>
                    </a:p>
                  </a:txBody>
                  <a:tcPr marL="91440" marR="91440" marT="45720" marB="45720" anchor="ctr">
                    <a:solidFill>
                      <a:srgbClr val="FFFFFF"/>
                    </a:solidFill>
                  </a:tcPr>
                </a:tc>
                <a:tc>
                  <a:txBody>
                    <a:bodyPr lIns="114300" tIns="114300" rIns="114300" bIns="114300"/>
                    <a:lstStyle/>
                    <a:p>
                      <a:r>
                        <a:rPr sz="1575" b="0">
                          <a:solidFill>
                            <a:srgbClr val="152B45"/>
                          </a:solidFill>
                          <a:latin typeface="Arial"/>
                          <a:ea typeface="Arial"/>
                          <a:cs typeface="Arial"/>
                        </a:rPr>
                        <a:t>0.500</a:t>
                      </a:r>
                    </a:p>
                  </a:txBody>
                  <a:tcPr marL="91440" marR="91440" marT="45720" marB="45720" anchor="ctr">
                    <a:solidFill>
                      <a:srgbClr val="FFFFFF"/>
                    </a:solidFill>
                  </a:tcPr>
                </a:tc>
                <a:tc>
                  <a:txBody>
                    <a:bodyPr lIns="114300" tIns="114300" rIns="114300" bIns="114300"/>
                    <a:lstStyle/>
                    <a:p>
                      <a:r>
                        <a:rPr sz="1575" b="0">
                          <a:solidFill>
                            <a:srgbClr val="152B45"/>
                          </a:solidFill>
                          <a:latin typeface="Arial"/>
                          <a:ea typeface="Arial"/>
                          <a:cs typeface="Arial"/>
                        </a:rPr>
                        <a:t>0.045</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966618D-793E-41A9-9960-F3B4394F7831}"/>
              </a:ext>
            </a:extLst>
          </p:cNvPr>
          <p:cNvSpPr>
            <a:spLocks xmlns:a="http://schemas.openxmlformats.org/drawingml/2006/main" noGrp="1"/>
          </p:cNvSpPr>
          <p:nvPr/>
        </p:nvSpPr>
        <p:spPr>
          <a:xfrm xmlns:a="http://schemas.openxmlformats.org/drawingml/2006/main">
            <a:off x="609600" y="4410075"/>
            <a:ext cx="5095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245ECB"/>
                </a:solidFill>
                <a:latin typeface="Arial"/>
                <a:ea typeface="Arial"/>
                <a:cs typeface="Arial"/>
              </a:defRPr>
            </a:defPPr>
          </a:lstStyle>
          <a:p xmlns:a="http://schemas.openxmlformats.org/drawingml/2006/main">
            <a:pPr>
              <a:defRPr sz="3150" b="1">
                <a:solidFill>
                  <a:srgbClr val="245ECB"/>
                </a:solidFill>
                <a:latin typeface="Arial"/>
                <a:ea typeface="Arial"/>
                <a:cs typeface="Arial"/>
              </a:defRPr>
            </a:pPr>
            <a:r>
              <a:rPr sz="3150" b="1">
                <a:solidFill>
                  <a:srgbClr val="245ECB"/>
                </a:solidFill>
                <a:latin typeface="Arial"/>
                <a:ea typeface="Arial"/>
                <a:cs typeface="Arial"/>
              </a:rPr>
              <a:t>0.690 ROC-AUC</a:t>
            </a:r>
          </a:p>
        </p:txBody>
      </p:sp>
      <p:sp>
        <p:nvSpPr>
          <p:cNvPr id="5" name="">
            <a:extLst xmlns:a="http://schemas.openxmlformats.org/drawingml/2006/main">
              <a:ext uri="{FF2B5EF4-FFF2-40B4-BE49-F238E27FC236}">
                <a16:creationId xmlns:a16="http://schemas.microsoft.com/office/drawing/2014/main" id="{A96A1687-38B3-4E6B-A8B4-11FCE7AD0167}"/>
              </a:ext>
            </a:extLst>
          </p:cNvPr>
          <p:cNvSpPr>
            <a:spLocks xmlns:a="http://schemas.openxmlformats.org/drawingml/2006/main" noGrp="1"/>
          </p:cNvSpPr>
          <p:nvPr/>
        </p:nvSpPr>
        <p:spPr>
          <a:xfrm xmlns:a="http://schemas.openxmlformats.org/drawingml/2006/main">
            <a:off x="609600" y="5124450"/>
            <a:ext cx="5143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52B45"/>
                </a:solidFill>
                <a:latin typeface="Arial"/>
                <a:ea typeface="Arial"/>
                <a:cs typeface="Arial"/>
              </a:defRPr>
            </a:defPPr>
          </a:lstStyle>
          <a:p xmlns:a="http://schemas.openxmlformats.org/drawingml/2006/main">
            <a:pPr>
              <a:defRPr sz="1950" b="0">
                <a:solidFill>
                  <a:srgbClr val="152B45"/>
                </a:solidFill>
                <a:latin typeface="Arial"/>
                <a:ea typeface="Arial"/>
                <a:cs typeface="Arial"/>
              </a:defRPr>
            </a:pPr>
            <a:r>
              <a:rPr sz="1950" b="0">
                <a:solidFill>
                  <a:srgbClr val="152B45"/>
                </a:solidFill>
                <a:latin typeface="Arial"/>
                <a:ea typeface="Arial"/>
                <a:cs typeface="Arial"/>
              </a:rPr>
              <a:t>10.3% of orders flagged. 65 true alerts and 569 false alerts.</a:t>
            </a:r>
          </a:p>
        </p:txBody>
      </p:sp>
      <p:sp>
        <p:nvSpPr>
          <p:cNvPr id="6" name="">
            <a:extLst xmlns:a="http://schemas.openxmlformats.org/drawingml/2006/main">
              <a:ext uri="{FF2B5EF4-FFF2-40B4-BE49-F238E27FC236}">
                <a16:creationId xmlns:a16="http://schemas.microsoft.com/office/drawing/2014/main" id="{63CB7188-7111-4C0A-A0A6-0FD5F4F74649}"/>
              </a:ext>
            </a:extLst>
          </p:cNvPr>
          <p:cNvSpPr>
            <a:spLocks xmlns:a="http://schemas.openxmlformats.org/drawingml/2006/main" noGrp="1"/>
          </p:cNvSpPr>
          <p:nvPr/>
        </p:nvSpPr>
        <p:spPr>
          <a:xfrm xmlns:a="http://schemas.openxmlformats.org/drawingml/2006/main">
            <a:off x="6810375" y="4410075"/>
            <a:ext cx="47148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52B45"/>
                </a:solidFill>
                <a:latin typeface="Arial"/>
                <a:ea typeface="Arial"/>
                <a:cs typeface="Arial"/>
              </a:defRPr>
            </a:defPPr>
          </a:lstStyle>
          <a:p xmlns:a="http://schemas.openxmlformats.org/drawingml/2006/main">
            <a:pPr>
              <a:defRPr sz="2325" b="1">
                <a:solidFill>
                  <a:srgbClr val="152B45"/>
                </a:solidFill>
                <a:latin typeface="Arial"/>
                <a:ea typeface="Arial"/>
                <a:cs typeface="Arial"/>
              </a:defRPr>
            </a:pPr>
            <a:r>
              <a:rPr sz="2325" b="1">
                <a:solidFill>
                  <a:srgbClr val="152B45"/>
                </a:solidFill>
                <a:latin typeface="Arial"/>
                <a:ea typeface="Arial"/>
                <a:cs typeface="Arial"/>
              </a:rPr>
              <a:t>Promised lead time and customer state lead validation importance.</a:t>
            </a:r>
          </a:p>
        </p:txBody>
      </p:sp>
      <p:sp>
        <p:nvSpPr>
          <p:cNvPr id="7" name="">
            <a:extLst xmlns:a="http://schemas.openxmlformats.org/drawingml/2006/main">
              <a:ext uri="{FF2B5EF4-FFF2-40B4-BE49-F238E27FC236}">
                <a16:creationId xmlns:a16="http://schemas.microsoft.com/office/drawing/2014/main" id="{F411FD70-EB8F-4BDF-BEBA-25ADE82031A4}"/>
              </a:ext>
            </a:extLst>
          </p:cNvPr>
          <p:cNvSpPr>
            <a:spLocks xmlns:a="http://schemas.openxmlformats.org/drawingml/2006/main" noGrp="1"/>
          </p:cNvSpPr>
          <p:nvPr/>
        </p:nvSpPr>
        <p:spPr>
          <a:xfrm xmlns:a="http://schemas.openxmlformats.org/drawingml/2006/main">
            <a:off x="6810375" y="5638800"/>
            <a:ext cx="4714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4667A"/>
                </a:solidFill>
                <a:latin typeface="Arial"/>
                <a:ea typeface="Arial"/>
                <a:cs typeface="Arial"/>
              </a:defRPr>
            </a:defPPr>
          </a:lstStyle>
          <a:p xmlns:a="http://schemas.openxmlformats.org/drawingml/2006/main">
            <a:pPr>
              <a:defRPr sz="1650" b="0">
                <a:solidFill>
                  <a:srgbClr val="54667A"/>
                </a:solidFill>
                <a:latin typeface="Arial"/>
                <a:ea typeface="Arial"/>
                <a:cs typeface="Arial"/>
              </a:defRPr>
            </a:pPr>
            <a:r>
              <a:rPr sz="1650" b="0">
                <a:solidFill>
                  <a:srgbClr val="54667A"/>
                </a:solidFill>
                <a:latin typeface="Arial"/>
                <a:ea typeface="Arial"/>
                <a:cs typeface="Arial"/>
              </a:rPr>
              <a:t>* Validation winner. Scores need calibration.</a:t>
            </a:r>
          </a:p>
        </p:txBody>
      </p:sp>
    </p:spTree>
    <p:extLst>
      <p:ext uri="{BB962C8B-B14F-4D97-AF65-F5344CB8AC3E}">
        <p14:creationId xmlns:p14="http://schemas.microsoft.com/office/powerpoint/2010/main" val="189456977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AAC150B-612F-47C2-9D2D-DE1F6103D176}"/>
              </a:ext>
            </a:extLst>
          </p:cNvPr>
          <p:cNvSpPr>
            <a:spLocks xmlns:a="http://schemas.openxmlformats.org/drawingml/2006/main" noGrp="1"/>
          </p:cNvSpPr>
          <p:nvPr/>
        </p:nvSpPr>
        <p:spPr>
          <a:xfrm xmlns:a="http://schemas.openxmlformats.org/drawingml/2006/main">
            <a:off x="609600" y="428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52B45"/>
                </a:solidFill>
                <a:latin typeface="Arial"/>
                <a:ea typeface="Arial"/>
                <a:cs typeface="Arial"/>
              </a:defRPr>
            </a:defPPr>
          </a:lstStyle>
          <a:p xmlns:a="http://schemas.openxmlformats.org/drawingml/2006/main">
            <a:pPr>
              <a:defRPr sz="3225" b="1">
                <a:solidFill>
                  <a:srgbClr val="152B45"/>
                </a:solidFill>
                <a:latin typeface="Arial"/>
                <a:ea typeface="Arial"/>
                <a:cs typeface="Arial"/>
              </a:defRPr>
            </a:pPr>
            <a:r>
              <a:rPr sz="3225" b="1">
                <a:solidFill>
                  <a:srgbClr val="152B45"/>
                </a:solidFill>
                <a:latin typeface="Arial"/>
                <a:ea typeface="Arial"/>
                <a:cs typeface="Arial"/>
              </a:rPr>
              <a:t>Three changes for the next operating budget</a:t>
            </a:r>
          </a:p>
        </p:txBody>
      </p:sp>
      <p:sp>
        <p:nvSpPr>
          <p:cNvPr id="2" name="">
            <a:extLst xmlns:a="http://schemas.openxmlformats.org/drawingml/2006/main">
              <a:ext uri="{FF2B5EF4-FFF2-40B4-BE49-F238E27FC236}">
                <a16:creationId xmlns:a16="http://schemas.microsoft.com/office/drawing/2014/main" id="{AAEE18BB-D140-4395-9BCC-0FF0D7FA7B22}"/>
              </a:ext>
            </a:extLst>
          </p:cNvPr>
          <p:cNvSpPr>
            <a:spLocks xmlns:a="http://schemas.openxmlformats.org/drawingml/2006/main" noGrp="1"/>
          </p:cNvSpPr>
          <p:nvPr/>
        </p:nvSpPr>
        <p:spPr>
          <a:xfrm xmlns:a="http://schemas.openxmlformats.org/drawingml/2006/main">
            <a:off x="10763250" y="6438900"/>
            <a:ext cx="819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4667A"/>
                </a:solidFill>
                <a:latin typeface="Arial"/>
                <a:ea typeface="Arial"/>
                <a:cs typeface="Arial"/>
              </a:defRPr>
            </a:defPPr>
          </a:lstStyle>
          <a:p xmlns:a="http://schemas.openxmlformats.org/drawingml/2006/main">
            <a:pPr>
              <a:defRPr sz="1050" b="0">
                <a:solidFill>
                  <a:srgbClr val="54667A"/>
                </a:solidFill>
                <a:latin typeface="Arial"/>
                <a:ea typeface="Arial"/>
                <a:cs typeface="Arial"/>
              </a:defRPr>
            </a:pPr>
            <a:r>
              <a:rPr sz="1050" b="0">
                <a:solidFill>
                  <a:srgbClr val="54667A"/>
                </a:solidFill>
                <a:latin typeface="Arial"/>
                <a:ea typeface="Arial"/>
                <a:cs typeface="Arial"/>
              </a:rPr>
              <a:t>10 / 10</a:t>
            </a:r>
          </a:p>
        </p:txBody>
      </p:sp>
      <p:sp>
        <p:nvSpPr>
          <p:cNvPr id="3" name="">
            <a:extLst xmlns:a="http://schemas.openxmlformats.org/drawingml/2006/main">
              <a:ext uri="{FF2B5EF4-FFF2-40B4-BE49-F238E27FC236}">
                <a16:creationId xmlns:a16="http://schemas.microsoft.com/office/drawing/2014/main" id="{71707683-5DF6-4F0D-86C2-D4D7C15094B8}"/>
              </a:ext>
            </a:extLst>
          </p:cNvPr>
          <p:cNvSpPr>
            <a:spLocks xmlns:a="http://schemas.openxmlformats.org/drawingml/2006/main" noGrp="1"/>
          </p:cNvSpPr>
          <p:nvPr/>
        </p:nvSpPr>
        <p:spPr>
          <a:xfrm xmlns:a="http://schemas.openxmlformats.org/drawingml/2006/main">
            <a:off x="609600" y="1676400"/>
            <a:ext cx="3257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45ECB"/>
                </a:solidFill>
                <a:latin typeface="Arial"/>
                <a:ea typeface="Arial"/>
                <a:cs typeface="Arial"/>
              </a:defRPr>
            </a:defPPr>
          </a:lstStyle>
          <a:p xmlns:a="http://schemas.openxmlformats.org/drawingml/2006/main">
            <a:pPr>
              <a:defRPr sz="2325" b="1">
                <a:solidFill>
                  <a:srgbClr val="245ECB"/>
                </a:solidFill>
                <a:latin typeface="Arial"/>
                <a:ea typeface="Arial"/>
                <a:cs typeface="Arial"/>
              </a:defRPr>
            </a:pPr>
            <a:r>
              <a:rPr sz="2325" b="1">
                <a:solidFill>
                  <a:srgbClr val="245ECB"/>
                </a:solidFill>
                <a:latin typeface="Arial"/>
                <a:ea typeface="Arial"/>
                <a:cs typeface="Arial"/>
              </a:rPr>
              <a:t>Early-warning pilot</a:t>
            </a:r>
          </a:p>
        </p:txBody>
      </p:sp>
      <p:sp>
        <p:nvSpPr>
          <p:cNvPr id="4" name="">
            <a:extLst xmlns:a="http://schemas.openxmlformats.org/drawingml/2006/main">
              <a:ext uri="{FF2B5EF4-FFF2-40B4-BE49-F238E27FC236}">
                <a16:creationId xmlns:a16="http://schemas.microsoft.com/office/drawing/2014/main" id="{152E4C4A-D96E-49BC-A108-167317D32003}"/>
              </a:ext>
            </a:extLst>
          </p:cNvPr>
          <p:cNvSpPr>
            <a:spLocks xmlns:a="http://schemas.openxmlformats.org/drawingml/2006/main" noGrp="1"/>
          </p:cNvSpPr>
          <p:nvPr/>
        </p:nvSpPr>
        <p:spPr>
          <a:xfrm xmlns:a="http://schemas.openxmlformats.org/drawingml/2006/main">
            <a:off x="609600" y="2238375"/>
            <a:ext cx="32575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4667A"/>
                </a:solidFill>
                <a:latin typeface="Arial"/>
                <a:ea typeface="Arial"/>
                <a:cs typeface="Arial"/>
              </a:defRPr>
            </a:defPPr>
          </a:lstStyle>
          <a:p xmlns:a="http://schemas.openxmlformats.org/drawingml/2006/main">
            <a:pPr>
              <a:defRPr sz="1725" b="0">
                <a:solidFill>
                  <a:srgbClr val="54667A"/>
                </a:solidFill>
                <a:latin typeface="Arial"/>
                <a:ea typeface="Arial"/>
                <a:cs typeface="Arial"/>
              </a:defRPr>
            </a:pPr>
            <a:r>
              <a:rPr sz="1725" b="0">
                <a:solidFill>
                  <a:srgbClr val="54667A"/>
                </a:solidFill>
                <a:latin typeface="Arial"/>
                <a:ea typeface="Arial"/>
                <a:cs typeface="Arial"/>
              </a:rPr>
              <a:t>Operations, first 30 days</a:t>
            </a:r>
          </a:p>
        </p:txBody>
      </p:sp>
      <p:sp>
        <p:nvSpPr>
          <p:cNvPr id="5" name="">
            <a:extLst xmlns:a="http://schemas.openxmlformats.org/drawingml/2006/main">
              <a:ext uri="{FF2B5EF4-FFF2-40B4-BE49-F238E27FC236}">
                <a16:creationId xmlns:a16="http://schemas.microsoft.com/office/drawing/2014/main" id="{4E12473E-EB56-48CB-BE00-F9494B36161A}"/>
              </a:ext>
            </a:extLst>
          </p:cNvPr>
          <p:cNvSpPr>
            <a:spLocks xmlns:a="http://schemas.openxmlformats.org/drawingml/2006/main" noGrp="1"/>
          </p:cNvSpPr>
          <p:nvPr/>
        </p:nvSpPr>
        <p:spPr>
          <a:xfrm xmlns:a="http://schemas.openxmlformats.org/drawingml/2006/main">
            <a:off x="609600" y="2886075"/>
            <a:ext cx="32575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52B45"/>
                </a:solidFill>
                <a:latin typeface="Arial"/>
                <a:ea typeface="Arial"/>
                <a:cs typeface="Arial"/>
              </a:defRPr>
            </a:defPPr>
          </a:lstStyle>
          <a:p xmlns:a="http://schemas.openxmlformats.org/drawingml/2006/main">
            <a:pPr>
              <a:defRPr sz="2100" b="0">
                <a:solidFill>
                  <a:srgbClr val="152B45"/>
                </a:solidFill>
                <a:latin typeface="Arial"/>
                <a:ea typeface="Arial"/>
                <a:cs typeface="Arial"/>
              </a:defRPr>
            </a:pPr>
            <a:r>
              <a:rPr sz="2100" b="0">
                <a:solidFill>
                  <a:srgbClr val="152B45"/>
                </a:solidFill>
                <a:latin typeface="Arial"/>
                <a:ea typeface="Arial"/>
                <a:cs typeface="Arial"/>
              </a:rPr>
              <a:t>Low-cost seller follow-up and customer communication, with a randomized holdout.</a:t>
            </a:r>
          </a:p>
        </p:txBody>
      </p:sp>
      <p:sp>
        <p:nvSpPr>
          <p:cNvPr id="6" name="">
            <a:extLst xmlns:a="http://schemas.openxmlformats.org/drawingml/2006/main">
              <a:ext uri="{FF2B5EF4-FFF2-40B4-BE49-F238E27FC236}">
                <a16:creationId xmlns:a16="http://schemas.microsoft.com/office/drawing/2014/main" id="{E20139AC-9064-4654-AD6E-4522F5B7C7DF}"/>
              </a:ext>
            </a:extLst>
          </p:cNvPr>
          <p:cNvSpPr>
            <a:spLocks xmlns:a="http://schemas.openxmlformats.org/drawingml/2006/main" noGrp="1"/>
          </p:cNvSpPr>
          <p:nvPr/>
        </p:nvSpPr>
        <p:spPr>
          <a:xfrm xmlns:a="http://schemas.openxmlformats.org/drawingml/2006/main">
            <a:off x="609600" y="4724400"/>
            <a:ext cx="3257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07D7C"/>
                </a:solidFill>
                <a:latin typeface="Arial"/>
                <a:ea typeface="Arial"/>
                <a:cs typeface="Arial"/>
              </a:defRPr>
            </a:defPPr>
          </a:lstStyle>
          <a:p xmlns:a="http://schemas.openxmlformats.org/drawingml/2006/main">
            <a:pPr>
              <a:defRPr sz="2250" b="1">
                <a:solidFill>
                  <a:srgbClr val="007D7C"/>
                </a:solidFill>
                <a:latin typeface="Arial"/>
                <a:ea typeface="Arial"/>
                <a:cs typeface="Arial"/>
              </a:defRPr>
            </a:pPr>
            <a:r>
              <a:rPr sz="2250" b="1">
                <a:solidFill>
                  <a:srgbClr val="007D7C"/>
                </a:solidFill>
                <a:latin typeface="Arial"/>
                <a:ea typeface="Arial"/>
                <a:cs typeface="Arial"/>
              </a:rPr>
              <a:t>65 true July alerts</a:t>
            </a:r>
          </a:p>
        </p:txBody>
      </p:sp>
      <p:sp>
        <p:nvSpPr>
          <p:cNvPr id="7" name="">
            <a:extLst xmlns:a="http://schemas.openxmlformats.org/drawingml/2006/main">
              <a:ext uri="{FF2B5EF4-FFF2-40B4-BE49-F238E27FC236}">
                <a16:creationId xmlns:a16="http://schemas.microsoft.com/office/drawing/2014/main" id="{47210E2E-C91E-4719-B1E7-0E80EED1AC94}"/>
              </a:ext>
            </a:extLst>
          </p:cNvPr>
          <p:cNvSpPr>
            <a:spLocks xmlns:a="http://schemas.openxmlformats.org/drawingml/2006/main" noGrp="1"/>
          </p:cNvSpPr>
          <p:nvPr/>
        </p:nvSpPr>
        <p:spPr>
          <a:xfrm xmlns:a="http://schemas.openxmlformats.org/drawingml/2006/main">
            <a:off x="609600" y="5324475"/>
            <a:ext cx="32575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152B45"/>
                </a:solidFill>
                <a:latin typeface="Arial"/>
                <a:ea typeface="Arial"/>
                <a:cs typeface="Arial"/>
              </a:defRPr>
            </a:defPPr>
          </a:lstStyle>
          <a:p xmlns:a="http://schemas.openxmlformats.org/drawingml/2006/main">
            <a:pPr>
              <a:defRPr sz="1725" b="0">
                <a:solidFill>
                  <a:srgbClr val="152B45"/>
                </a:solidFill>
                <a:latin typeface="Arial"/>
                <a:ea typeface="Arial"/>
                <a:cs typeface="Arial"/>
              </a:defRPr>
            </a:pPr>
            <a:r>
              <a:rPr sz="1725" b="0">
                <a:solidFill>
                  <a:srgbClr val="152B45"/>
                </a:solidFill>
                <a:latin typeface="Arial"/>
                <a:ea typeface="Arial"/>
                <a:cs typeface="Arial"/>
              </a:rPr>
              <a:t>Measure late outcomes avoided per intervention.</a:t>
            </a:r>
          </a:p>
        </p:txBody>
      </p:sp>
      <p:sp>
        <p:nvSpPr>
          <p:cNvPr id="8" name="">
            <a:extLst xmlns:a="http://schemas.openxmlformats.org/drawingml/2006/main">
              <a:ext uri="{FF2B5EF4-FFF2-40B4-BE49-F238E27FC236}">
                <a16:creationId xmlns:a16="http://schemas.microsoft.com/office/drawing/2014/main" id="{B9898520-AA44-4466-91AE-8B5ED1F059B7}"/>
              </a:ext>
            </a:extLst>
          </p:cNvPr>
          <p:cNvSpPr>
            <a:spLocks xmlns:a="http://schemas.openxmlformats.org/drawingml/2006/main" noGrp="1"/>
          </p:cNvSpPr>
          <p:nvPr/>
        </p:nvSpPr>
        <p:spPr>
          <a:xfrm xmlns:a="http://schemas.openxmlformats.org/drawingml/2006/main">
            <a:off x="4448175" y="1676400"/>
            <a:ext cx="3257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45ECB"/>
                </a:solidFill>
                <a:latin typeface="Arial"/>
                <a:ea typeface="Arial"/>
                <a:cs typeface="Arial"/>
              </a:defRPr>
            </a:defPPr>
          </a:lstStyle>
          <a:p xmlns:a="http://schemas.openxmlformats.org/drawingml/2006/main">
            <a:pPr>
              <a:defRPr sz="2325" b="1">
                <a:solidFill>
                  <a:srgbClr val="245ECB"/>
                </a:solidFill>
                <a:latin typeface="Arial"/>
                <a:ea typeface="Arial"/>
                <a:cs typeface="Arial"/>
              </a:defRPr>
            </a:pPr>
            <a:r>
              <a:rPr sz="2325" b="1">
                <a:solidFill>
                  <a:srgbClr val="245ECB"/>
                </a:solidFill>
                <a:latin typeface="Arial"/>
                <a:ea typeface="Arial"/>
                <a:cs typeface="Arial"/>
              </a:rPr>
              <a:t>Seller and route fixes</a:t>
            </a:r>
          </a:p>
        </p:txBody>
      </p:sp>
      <p:sp>
        <p:nvSpPr>
          <p:cNvPr id="9" name="">
            <a:extLst xmlns:a="http://schemas.openxmlformats.org/drawingml/2006/main">
              <a:ext uri="{FF2B5EF4-FFF2-40B4-BE49-F238E27FC236}">
                <a16:creationId xmlns:a16="http://schemas.microsoft.com/office/drawing/2014/main" id="{C7E4AC48-FC6A-4265-A9FE-C1BA64C5B7F7}"/>
              </a:ext>
            </a:extLst>
          </p:cNvPr>
          <p:cNvSpPr>
            <a:spLocks xmlns:a="http://schemas.openxmlformats.org/drawingml/2006/main" noGrp="1"/>
          </p:cNvSpPr>
          <p:nvPr/>
        </p:nvSpPr>
        <p:spPr>
          <a:xfrm xmlns:a="http://schemas.openxmlformats.org/drawingml/2006/main">
            <a:off x="4448175" y="2238375"/>
            <a:ext cx="32575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4667A"/>
                </a:solidFill>
                <a:latin typeface="Arial"/>
                <a:ea typeface="Arial"/>
                <a:cs typeface="Arial"/>
              </a:defRPr>
            </a:defPPr>
          </a:lstStyle>
          <a:p xmlns:a="http://schemas.openxmlformats.org/drawingml/2006/main">
            <a:pPr>
              <a:defRPr sz="1725" b="0">
                <a:solidFill>
                  <a:srgbClr val="54667A"/>
                </a:solidFill>
                <a:latin typeface="Arial"/>
                <a:ea typeface="Arial"/>
                <a:cs typeface="Arial"/>
              </a:defRPr>
            </a:pPr>
            <a:r>
              <a:rPr sz="1725" b="0">
                <a:solidFill>
                  <a:srgbClr val="54667A"/>
                </a:solidFill>
                <a:latin typeface="Arial"/>
                <a:ea typeface="Arial"/>
                <a:cs typeface="Arial"/>
              </a:rPr>
              <a:t>Logistics, days 30-60</a:t>
            </a:r>
          </a:p>
        </p:txBody>
      </p:sp>
      <p:sp>
        <p:nvSpPr>
          <p:cNvPr id="10" name="">
            <a:extLst xmlns:a="http://schemas.openxmlformats.org/drawingml/2006/main">
              <a:ext uri="{FF2B5EF4-FFF2-40B4-BE49-F238E27FC236}">
                <a16:creationId xmlns:a16="http://schemas.microsoft.com/office/drawing/2014/main" id="{3A57E945-4836-4A96-87B6-1BD1F6299FCF}"/>
              </a:ext>
            </a:extLst>
          </p:cNvPr>
          <p:cNvSpPr>
            <a:spLocks xmlns:a="http://schemas.openxmlformats.org/drawingml/2006/main" noGrp="1"/>
          </p:cNvSpPr>
          <p:nvPr/>
        </p:nvSpPr>
        <p:spPr>
          <a:xfrm xmlns:a="http://schemas.openxmlformats.org/drawingml/2006/main">
            <a:off x="4448175" y="2886075"/>
            <a:ext cx="32575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52B45"/>
                </a:solidFill>
                <a:latin typeface="Arial"/>
                <a:ea typeface="Arial"/>
                <a:cs typeface="Arial"/>
              </a:defRPr>
            </a:defPPr>
          </a:lstStyle>
          <a:p xmlns:a="http://schemas.openxmlformats.org/drawingml/2006/main">
            <a:pPr>
              <a:defRPr sz="2100" b="0">
                <a:solidFill>
                  <a:srgbClr val="152B45"/>
                </a:solidFill>
                <a:latin typeface="Arial"/>
                <a:ea typeface="Arial"/>
                <a:cs typeface="Arial"/>
              </a:defRPr>
            </a:pPr>
            <a:r>
              <a:rPr sz="2100" b="0">
                <a:solidFill>
                  <a:srgbClr val="152B45"/>
                </a:solidFill>
                <a:latin typeface="Arial"/>
                <a:ea typeface="Arial"/>
                <a:cs typeface="Arial"/>
              </a:rPr>
              <a:t>Review 35 high-volume sellers with elevated lateness. Validate root causes before action.</a:t>
            </a:r>
          </a:p>
        </p:txBody>
      </p:sp>
      <p:sp>
        <p:nvSpPr>
          <p:cNvPr id="11" name="">
            <a:extLst xmlns:a="http://schemas.openxmlformats.org/drawingml/2006/main">
              <a:ext uri="{FF2B5EF4-FFF2-40B4-BE49-F238E27FC236}">
                <a16:creationId xmlns:a16="http://schemas.microsoft.com/office/drawing/2014/main" id="{7D979030-FF91-46C2-B9D3-74FF93EF6D02}"/>
              </a:ext>
            </a:extLst>
          </p:cNvPr>
          <p:cNvSpPr>
            <a:spLocks xmlns:a="http://schemas.openxmlformats.org/drawingml/2006/main" noGrp="1"/>
          </p:cNvSpPr>
          <p:nvPr/>
        </p:nvSpPr>
        <p:spPr>
          <a:xfrm xmlns:a="http://schemas.openxmlformats.org/drawingml/2006/main">
            <a:off x="4448175" y="4724400"/>
            <a:ext cx="3257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07D7C"/>
                </a:solidFill>
                <a:latin typeface="Arial"/>
                <a:ea typeface="Arial"/>
                <a:cs typeface="Arial"/>
              </a:defRPr>
            </a:defPPr>
          </a:lstStyle>
          <a:p xmlns:a="http://schemas.openxmlformats.org/drawingml/2006/main">
            <a:pPr>
              <a:defRPr sz="2250" b="1">
                <a:solidFill>
                  <a:srgbClr val="007D7C"/>
                </a:solidFill>
                <a:latin typeface="Arial"/>
                <a:ea typeface="Arial"/>
                <a:cs typeface="Arial"/>
              </a:defRPr>
            </a:pPr>
            <a:r>
              <a:rPr sz="2250" b="1">
                <a:solidFill>
                  <a:srgbClr val="007D7C"/>
                </a:solidFill>
                <a:latin typeface="Arial"/>
                <a:ea typeface="Arial"/>
                <a:cs typeface="Arial"/>
              </a:rPr>
              <a:t>356 fewer late orders</a:t>
            </a:r>
          </a:p>
        </p:txBody>
      </p:sp>
      <p:sp>
        <p:nvSpPr>
          <p:cNvPr id="12" name="">
            <a:extLst xmlns:a="http://schemas.openxmlformats.org/drawingml/2006/main">
              <a:ext uri="{FF2B5EF4-FFF2-40B4-BE49-F238E27FC236}">
                <a16:creationId xmlns:a16="http://schemas.microsoft.com/office/drawing/2014/main" id="{3002FF81-8CC1-483E-AD9E-E3702040B11D}"/>
              </a:ext>
            </a:extLst>
          </p:cNvPr>
          <p:cNvSpPr>
            <a:spLocks xmlns:a="http://schemas.openxmlformats.org/drawingml/2006/main" noGrp="1"/>
          </p:cNvSpPr>
          <p:nvPr/>
        </p:nvSpPr>
        <p:spPr>
          <a:xfrm xmlns:a="http://schemas.openxmlformats.org/drawingml/2006/main">
            <a:off x="4448175" y="5324475"/>
            <a:ext cx="32575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152B45"/>
                </a:solidFill>
                <a:latin typeface="Arial"/>
                <a:ea typeface="Arial"/>
                <a:cs typeface="Arial"/>
              </a:defRPr>
            </a:defPPr>
          </a:lstStyle>
          <a:p xmlns:a="http://schemas.openxmlformats.org/drawingml/2006/main">
            <a:pPr>
              <a:defRPr sz="1725" b="0">
                <a:solidFill>
                  <a:srgbClr val="152B45"/>
                </a:solidFill>
                <a:latin typeface="Arial"/>
                <a:ea typeface="Arial"/>
                <a:cs typeface="Arial"/>
              </a:defRPr>
            </a:pPr>
            <a:r>
              <a:rPr sz="1725" b="0">
                <a:solidFill>
                  <a:srgbClr val="152B45"/>
                </a:solidFill>
                <a:latin typeface="Arial"/>
                <a:ea typeface="Arial"/>
                <a:cs typeface="Arial"/>
              </a:rPr>
              <a:t>Scenario: 20% fewer late outcomes in the screened portfolio.</a:t>
            </a:r>
          </a:p>
        </p:txBody>
      </p:sp>
      <p:sp>
        <p:nvSpPr>
          <p:cNvPr id="13" name="">
            <a:extLst xmlns:a="http://schemas.openxmlformats.org/drawingml/2006/main">
              <a:ext uri="{FF2B5EF4-FFF2-40B4-BE49-F238E27FC236}">
                <a16:creationId xmlns:a16="http://schemas.microsoft.com/office/drawing/2014/main" id="{05FCAE60-2602-41E7-89B6-EAD964F7A567}"/>
              </a:ext>
            </a:extLst>
          </p:cNvPr>
          <p:cNvSpPr>
            <a:spLocks xmlns:a="http://schemas.openxmlformats.org/drawingml/2006/main" noGrp="1"/>
          </p:cNvSpPr>
          <p:nvPr/>
        </p:nvSpPr>
        <p:spPr>
          <a:xfrm xmlns:a="http://schemas.openxmlformats.org/drawingml/2006/main">
            <a:off x="8286750" y="1676400"/>
            <a:ext cx="3257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45ECB"/>
                </a:solidFill>
                <a:latin typeface="Arial"/>
                <a:ea typeface="Arial"/>
                <a:cs typeface="Arial"/>
              </a:defRPr>
            </a:defPPr>
          </a:lstStyle>
          <a:p xmlns:a="http://schemas.openxmlformats.org/drawingml/2006/main">
            <a:pPr>
              <a:defRPr sz="2325" b="1">
                <a:solidFill>
                  <a:srgbClr val="245ECB"/>
                </a:solidFill>
                <a:latin typeface="Arial"/>
                <a:ea typeface="Arial"/>
                <a:cs typeface="Arial"/>
              </a:defRPr>
            </a:pPr>
            <a:r>
              <a:rPr sz="2325" b="1">
                <a:solidFill>
                  <a:srgbClr val="245ECB"/>
                </a:solidFill>
                <a:latin typeface="Arial"/>
                <a:ea typeface="Arial"/>
                <a:cs typeface="Arial"/>
              </a:rPr>
              <a:t>Second-purchase test</a:t>
            </a:r>
          </a:p>
        </p:txBody>
      </p:sp>
      <p:sp>
        <p:nvSpPr>
          <p:cNvPr id="14" name="">
            <a:extLst xmlns:a="http://schemas.openxmlformats.org/drawingml/2006/main">
              <a:ext uri="{FF2B5EF4-FFF2-40B4-BE49-F238E27FC236}">
                <a16:creationId xmlns:a16="http://schemas.microsoft.com/office/drawing/2014/main" id="{25BBFF04-923E-466A-B9E8-6BEFDB2F08CF}"/>
              </a:ext>
            </a:extLst>
          </p:cNvPr>
          <p:cNvSpPr>
            <a:spLocks xmlns:a="http://schemas.openxmlformats.org/drawingml/2006/main" noGrp="1"/>
          </p:cNvSpPr>
          <p:nvPr/>
        </p:nvSpPr>
        <p:spPr>
          <a:xfrm xmlns:a="http://schemas.openxmlformats.org/drawingml/2006/main">
            <a:off x="8286750" y="2238375"/>
            <a:ext cx="32575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4667A"/>
                </a:solidFill>
                <a:latin typeface="Arial"/>
                <a:ea typeface="Arial"/>
                <a:cs typeface="Arial"/>
              </a:defRPr>
            </a:defPPr>
          </a:lstStyle>
          <a:p xmlns:a="http://schemas.openxmlformats.org/drawingml/2006/main">
            <a:pPr>
              <a:defRPr sz="1725" b="0">
                <a:solidFill>
                  <a:srgbClr val="54667A"/>
                </a:solidFill>
                <a:latin typeface="Arial"/>
                <a:ea typeface="Arial"/>
                <a:cs typeface="Arial"/>
              </a:defRPr>
            </a:pPr>
            <a:r>
              <a:rPr sz="1725" b="0">
                <a:solidFill>
                  <a:srgbClr val="54667A"/>
                </a:solidFill>
                <a:latin typeface="Arial"/>
                <a:ea typeface="Arial"/>
                <a:cs typeface="Arial"/>
              </a:rPr>
              <a:t>CRM, days 60-90</a:t>
            </a:r>
          </a:p>
        </p:txBody>
      </p:sp>
      <p:sp>
        <p:nvSpPr>
          <p:cNvPr id="15" name="">
            <a:extLst xmlns:a="http://schemas.openxmlformats.org/drawingml/2006/main">
              <a:ext uri="{FF2B5EF4-FFF2-40B4-BE49-F238E27FC236}">
                <a16:creationId xmlns:a16="http://schemas.microsoft.com/office/drawing/2014/main" id="{5AE40A83-D217-423A-AC6E-FD74D18A2DF9}"/>
              </a:ext>
            </a:extLst>
          </p:cNvPr>
          <p:cNvSpPr>
            <a:spLocks xmlns:a="http://schemas.openxmlformats.org/drawingml/2006/main" noGrp="1"/>
          </p:cNvSpPr>
          <p:nvPr/>
        </p:nvSpPr>
        <p:spPr>
          <a:xfrm xmlns:a="http://schemas.openxmlformats.org/drawingml/2006/main">
            <a:off x="8286750" y="2886075"/>
            <a:ext cx="32575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52B45"/>
                </a:solidFill>
                <a:latin typeface="Arial"/>
                <a:ea typeface="Arial"/>
                <a:cs typeface="Arial"/>
              </a:defRPr>
            </a:defPPr>
          </a:lstStyle>
          <a:p xmlns:a="http://schemas.openxmlformats.org/drawingml/2006/main">
            <a:pPr>
              <a:defRPr sz="2100" b="0">
                <a:solidFill>
                  <a:srgbClr val="152B45"/>
                </a:solidFill>
                <a:latin typeface="Arial"/>
                <a:ea typeface="Arial"/>
                <a:cs typeface="Arial"/>
              </a:defRPr>
            </a:pPr>
            <a:r>
              <a:rPr sz="2100" b="0">
                <a:solidFill>
                  <a:srgbClr val="152B45"/>
                </a:solidFill>
                <a:latin typeface="Arial"/>
                <a:ea typeface="Arial"/>
                <a:cs typeface="Arial"/>
              </a:rPr>
              <a:t>Target 4,226 recent high-value first buyers. Use a holdout and measure contribution after offers.</a:t>
            </a:r>
          </a:p>
        </p:txBody>
      </p:sp>
      <p:sp>
        <p:nvSpPr>
          <p:cNvPr id="16" name="">
            <a:extLst xmlns:a="http://schemas.openxmlformats.org/drawingml/2006/main">
              <a:ext uri="{FF2B5EF4-FFF2-40B4-BE49-F238E27FC236}">
                <a16:creationId xmlns:a16="http://schemas.microsoft.com/office/drawing/2014/main" id="{8143FAFA-8E28-454C-A5C3-C0237A65D84C}"/>
              </a:ext>
            </a:extLst>
          </p:cNvPr>
          <p:cNvSpPr>
            <a:spLocks xmlns:a="http://schemas.openxmlformats.org/drawingml/2006/main" noGrp="1"/>
          </p:cNvSpPr>
          <p:nvPr/>
        </p:nvSpPr>
        <p:spPr>
          <a:xfrm xmlns:a="http://schemas.openxmlformats.org/drawingml/2006/main">
            <a:off x="8286750" y="4724400"/>
            <a:ext cx="3257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07D7C"/>
                </a:solidFill>
                <a:latin typeface="Arial"/>
                <a:ea typeface="Arial"/>
                <a:cs typeface="Arial"/>
              </a:defRPr>
            </a:defPPr>
          </a:lstStyle>
          <a:p xmlns:a="http://schemas.openxmlformats.org/drawingml/2006/main">
            <a:pPr>
              <a:defRPr sz="2250" b="1">
                <a:solidFill>
                  <a:srgbClr val="007D7C"/>
                </a:solidFill>
                <a:latin typeface="Arial"/>
                <a:ea typeface="Arial"/>
                <a:cs typeface="Arial"/>
              </a:defRPr>
            </a:pPr>
            <a:r>
              <a:rPr sz="2250" b="1">
                <a:solidFill>
                  <a:srgbClr val="007D7C"/>
                </a:solidFill>
                <a:latin typeface="Arial"/>
                <a:ea typeface="Arial"/>
                <a:cs typeface="Arial"/>
              </a:rPr>
              <a:t>42 additional orders</a:t>
            </a:r>
          </a:p>
        </p:txBody>
      </p:sp>
      <p:sp>
        <p:nvSpPr>
          <p:cNvPr id="17" name="">
            <a:extLst xmlns:a="http://schemas.openxmlformats.org/drawingml/2006/main">
              <a:ext uri="{FF2B5EF4-FFF2-40B4-BE49-F238E27FC236}">
                <a16:creationId xmlns:a16="http://schemas.microsoft.com/office/drawing/2014/main" id="{16865BEF-C384-4191-A2F7-791270FF95EC}"/>
              </a:ext>
            </a:extLst>
          </p:cNvPr>
          <p:cNvSpPr>
            <a:spLocks xmlns:a="http://schemas.openxmlformats.org/drawingml/2006/main" noGrp="1"/>
          </p:cNvSpPr>
          <p:nvPr/>
        </p:nvSpPr>
        <p:spPr>
          <a:xfrm xmlns:a="http://schemas.openxmlformats.org/drawingml/2006/main">
            <a:off x="8286750" y="5324475"/>
            <a:ext cx="32575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152B45"/>
                </a:solidFill>
                <a:latin typeface="Arial"/>
                <a:ea typeface="Arial"/>
                <a:cs typeface="Arial"/>
              </a:defRPr>
            </a:defPPr>
          </a:lstStyle>
          <a:p xmlns:a="http://schemas.openxmlformats.org/drawingml/2006/main">
            <a:pPr>
              <a:defRPr sz="1725" b="0">
                <a:solidFill>
                  <a:srgbClr val="152B45"/>
                </a:solidFill>
                <a:latin typeface="Arial"/>
                <a:ea typeface="Arial"/>
                <a:cs typeface="Arial"/>
              </a:defRPr>
            </a:pPr>
            <a:r>
              <a:rPr sz="1725" b="0">
                <a:solidFill>
                  <a:srgbClr val="152B45"/>
                </a:solidFill>
                <a:latin typeface="Arial"/>
                <a:ea typeface="Arial"/>
                <a:cs typeface="Arial"/>
              </a:rPr>
              <a:t>Scenario: +1 percentage point incremental repeat rate.</a:t>
            </a:r>
          </a:p>
        </p:txBody>
      </p:sp>
    </p:spTree>
    <p:extLst>
      <p:ext uri="{BB962C8B-B14F-4D97-AF65-F5344CB8AC3E}">
        <p14:creationId xmlns:p14="http://schemas.microsoft.com/office/powerpoint/2010/main" val="5605441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2026-10-07T06:18:50.4560000Z</dcterms:created>
  <dcterms:modified xsi:type="dcterms:W3CDTF">2026-10-07T06:18:50.4560000Z</dcterms:modified>
</coreProperties>
</file>